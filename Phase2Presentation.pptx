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Newsreader"/>
      <p:regular r:id="rId30"/>
      <p:bold r:id="rId31"/>
      <p:italic r:id="rId32"/>
      <p:boldItalic r:id="rId33"/>
    </p:embeddedFont>
    <p:embeddedFont>
      <p:font typeface="DM Sans Light"/>
      <p:regular r:id="rId34"/>
      <p:bold r:id="rId35"/>
      <p:italic r:id="rId36"/>
      <p:boldItalic r:id="rId37"/>
    </p:embeddedFont>
    <p:embeddedFont>
      <p:font typeface="DM Sans SemiBold"/>
      <p:regular r:id="rId38"/>
      <p:bold r:id="rId39"/>
      <p:italic r:id="rId40"/>
      <p:boldItalic r:id="rId41"/>
    </p:embeddedFont>
    <p:embeddedFont>
      <p:font typeface="DM Sans"/>
      <p:regular r:id="rId42"/>
      <p:bold r:id="rId43"/>
      <p:italic r:id="rId44"/>
      <p:boldItalic r:id="rId45"/>
    </p:embeddedFont>
    <p:embeddedFont>
      <p:font typeface="Newsreader SemiBold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C5CF8F-0EC3-484D-8BF3-58F0138BA2CA}">
  <a:tblStyle styleId="{15C5CF8F-0EC3-484D-8BF3-58F0138BA2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SemiBold-italic.fntdata"/><Relationship Id="rId42" Type="http://schemas.openxmlformats.org/officeDocument/2006/relationships/font" Target="fonts/DMSans-regular.fntdata"/><Relationship Id="rId41" Type="http://schemas.openxmlformats.org/officeDocument/2006/relationships/font" Target="fonts/DMSansSemiBold-boldItalic.fntdata"/><Relationship Id="rId44" Type="http://schemas.openxmlformats.org/officeDocument/2006/relationships/font" Target="fonts/DMSans-italic.fntdata"/><Relationship Id="rId43" Type="http://schemas.openxmlformats.org/officeDocument/2006/relationships/font" Target="fonts/DMSans-bold.fntdata"/><Relationship Id="rId46" Type="http://schemas.openxmlformats.org/officeDocument/2006/relationships/font" Target="fonts/NewsreaderSemiBold-regular.fntdata"/><Relationship Id="rId45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NewsreaderSemiBold-italic.fntdata"/><Relationship Id="rId47" Type="http://schemas.openxmlformats.org/officeDocument/2006/relationships/font" Target="fonts/NewsreaderSemiBold-bold.fntdata"/><Relationship Id="rId49" Type="http://schemas.openxmlformats.org/officeDocument/2006/relationships/font" Target="fonts/Newsreader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wsreader-bold.fntdata"/><Relationship Id="rId30" Type="http://schemas.openxmlformats.org/officeDocument/2006/relationships/font" Target="fonts/Newsreader-regular.fntdata"/><Relationship Id="rId33" Type="http://schemas.openxmlformats.org/officeDocument/2006/relationships/font" Target="fonts/Newsreader-boldItalic.fntdata"/><Relationship Id="rId32" Type="http://schemas.openxmlformats.org/officeDocument/2006/relationships/font" Target="fonts/Newsreader-italic.fntdata"/><Relationship Id="rId35" Type="http://schemas.openxmlformats.org/officeDocument/2006/relationships/font" Target="fonts/DMSansLight-bold.fntdata"/><Relationship Id="rId34" Type="http://schemas.openxmlformats.org/officeDocument/2006/relationships/font" Target="fonts/DMSansLight-regular.fntdata"/><Relationship Id="rId37" Type="http://schemas.openxmlformats.org/officeDocument/2006/relationships/font" Target="fonts/DMSansLight-boldItalic.fntdata"/><Relationship Id="rId36" Type="http://schemas.openxmlformats.org/officeDocument/2006/relationships/font" Target="fonts/DMSansLight-italic.fntdata"/><Relationship Id="rId39" Type="http://schemas.openxmlformats.org/officeDocument/2006/relationships/font" Target="fonts/DMSansSemiBold-bold.fntdata"/><Relationship Id="rId38" Type="http://schemas.openxmlformats.org/officeDocument/2006/relationships/font" Target="fonts/DMSansSemiBold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d4150126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d4150126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4150126e8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d4150126e8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da64cbca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dda64cbca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d9d583ad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dd9d583ad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600ec10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d600ec10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e65806de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de65806de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e65806d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e65806d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e65806de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de65806de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d62159de58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d62159de58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de76b0245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de76b0245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600ec10b2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d600ec10b2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de65806de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de65806de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600ec10b2_0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d600ec10b2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dda64cbca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dda64cbca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dda64cbca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dda64cbca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dda64cbca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dda64cbca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dda64cbca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dda64cbca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dda64cbca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dda64cbca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d600ec10b2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d600ec10b2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primary standard is temporal validation, because our real goal is to use year t features to predict price growth in year t+1 under future market conditions.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“good” model should have higher R², lower MAE/RMSE, and ideally positive temporal R², not just improvement relative to another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grouped-ZCTA test is a secondary check: if R² is positive there, the model is learning meaningful cross-sectional differences across neighborhoods, even if forecasting over time is harder.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our results, Model 2 outperforms Model 1 in both evaluation methods, so school features add some incremental signal.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However, the best temporal R² is still negative (-0.025), so the models are promising but not yet strong forecasting models; they currently explain spatial variation better than future market shifts.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adding school features, Model 2 is better, but neither model is yet “good” in the strict forecasting sense because temporal prediction remains weak.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d600ec10b2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d600ec10b2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d4150126e8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d4150126e8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d9d583ad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dd9d583ad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600ec10b2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d600ec10b2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99750" y="456650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Ziplock Project Progress Report</a:t>
            </a:r>
            <a:endParaRPr/>
          </a:p>
        </p:txBody>
      </p:sp>
      <p:sp>
        <p:nvSpPr>
          <p:cNvPr id="470" name="Google Shape;470;p55"/>
          <p:cNvSpPr txBox="1"/>
          <p:nvPr/>
        </p:nvSpPr>
        <p:spPr>
          <a:xfrm>
            <a:off x="651000" y="2571750"/>
            <a:ext cx="3357600" cy="28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9F9F9"/>
                </a:solidFill>
                <a:latin typeface="DM Sans"/>
                <a:ea typeface="DM Sans"/>
                <a:cs typeface="DM Sans"/>
                <a:sym typeface="DM Sans"/>
              </a:rPr>
              <a:t>5/7/2026</a:t>
            </a:r>
            <a:endParaRPr sz="1200">
              <a:solidFill>
                <a:srgbClr val="F9F9F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9F9F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9F9F9"/>
                </a:solidFill>
                <a:latin typeface="DM Sans"/>
                <a:ea typeface="DM Sans"/>
                <a:cs typeface="DM Sans"/>
                <a:sym typeface="DM Sans"/>
              </a:rPr>
              <a:t>Charles Gao</a:t>
            </a:r>
            <a:endParaRPr sz="1200">
              <a:solidFill>
                <a:srgbClr val="F9F9F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9F9F9"/>
                </a:solidFill>
                <a:latin typeface="DM Sans"/>
                <a:ea typeface="DM Sans"/>
                <a:cs typeface="DM Sans"/>
                <a:sym typeface="DM Sans"/>
              </a:rPr>
              <a:t>Gary Zeng</a:t>
            </a:r>
            <a:endParaRPr sz="1200">
              <a:solidFill>
                <a:srgbClr val="F9F9F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9F9F9"/>
                </a:solidFill>
                <a:latin typeface="DM Sans"/>
                <a:ea typeface="DM Sans"/>
                <a:cs typeface="DM Sans"/>
                <a:sym typeface="DM Sans"/>
              </a:rPr>
              <a:t>Anuj Patel</a:t>
            </a:r>
            <a:endParaRPr sz="1200">
              <a:solidFill>
                <a:srgbClr val="F9F9F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9F9F9"/>
                </a:solidFill>
                <a:latin typeface="DM Sans"/>
                <a:ea typeface="DM Sans"/>
                <a:cs typeface="DM Sans"/>
                <a:sym typeface="DM Sans"/>
              </a:rPr>
              <a:t>Allen Lai</a:t>
            </a:r>
            <a:endParaRPr sz="1200">
              <a:solidFill>
                <a:srgbClr val="F9F9F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9F9F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56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Objectives</a:t>
            </a: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7" name="Google Shape;477;p56"/>
          <p:cNvSpPr txBox="1"/>
          <p:nvPr/>
        </p:nvSpPr>
        <p:spPr>
          <a:xfrm>
            <a:off x="367050" y="1156500"/>
            <a:ext cx="8503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Build a ZCTA-year panel for California that combines housing market, demographic, school-quality and 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minimum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wage information.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Predict next-year median sale price growth using features observed in previous year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3" name="Google Shape;483;p57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Motivation 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4" name="Google Shape;484;p57"/>
          <p:cNvSpPr txBox="1"/>
          <p:nvPr/>
        </p:nvSpPr>
        <p:spPr>
          <a:xfrm>
            <a:off x="367050" y="1156500"/>
            <a:ext cx="8503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Housing prices vary substantially across California neighborhoods, and understanding those changes has clear economic and social importance.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By focusing on next-year price growth, we can test whether publicly available local data contains predictive signal rather than only describing the past.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0" name="Google Shape;490;p58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ZCTAs vs Zip Code 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91" name="Google Shape;49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0200" y="644827"/>
            <a:ext cx="4392366" cy="4466099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58"/>
          <p:cNvSpPr txBox="1"/>
          <p:nvPr/>
        </p:nvSpPr>
        <p:spPr>
          <a:xfrm>
            <a:off x="660275" y="1170750"/>
            <a:ext cx="3355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Zip Code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US Postal Service pointed-based routes used for mail delivery 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ZCTAs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Area based polygons created by Census Bureau for their metrics 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ZCTAs sometimes are slightly different from Zip Code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Convert ZCTAs to Zip Code using a US Housing and Urban Department (HUD) Crosswalk between Zip Code and ZCTA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8" name="Google Shape;498;p59"/>
          <p:cNvSpPr txBox="1"/>
          <p:nvPr/>
        </p:nvSpPr>
        <p:spPr>
          <a:xfrm>
            <a:off x="2006550" y="1801500"/>
            <a:ext cx="50370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Data &amp; Management</a:t>
            </a:r>
            <a:endParaRPr sz="4000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60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Sources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5" name="Google Shape;505;p60"/>
          <p:cNvSpPr txBox="1"/>
          <p:nvPr/>
        </p:nvSpPr>
        <p:spPr>
          <a:xfrm>
            <a:off x="367050" y="1156500"/>
            <a:ext cx="85038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Previous 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Sources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Redfin Housing Data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US Census Data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School Quality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Minimum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Wage Data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New Data Sources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Crime in 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Zip Code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■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California Department of Justices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Amenities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■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Parks, Beverage Shop, Fitness, 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Restaurants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■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American Community Survey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61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Description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512" name="Google Shape;512;p61"/>
          <p:cNvGraphicFramePr/>
          <p:nvPr/>
        </p:nvGraphicFramePr>
        <p:xfrm>
          <a:off x="229350" y="174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{15C5CF8F-0EC3-484D-8BF3-58F0138BA2CA}</a:tableStyleId>
              </a:tblPr>
              <a:tblGrid>
                <a:gridCol w="940225"/>
                <a:gridCol w="1160225"/>
                <a:gridCol w="995350"/>
                <a:gridCol w="1052475"/>
                <a:gridCol w="1201775"/>
                <a:gridCol w="1547850"/>
                <a:gridCol w="1547850"/>
              </a:tblGrid>
              <a:tr h="46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</a:t>
                      </a:r>
                      <a:r>
                        <a:rPr lang="en"/>
                        <a:t>ip 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r>
                        <a:rPr lang="en"/>
                        <a:t>menities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emp_1_4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emp_5_9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emp_10_19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year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3" name="Google Shape;513;p61"/>
          <p:cNvSpPr txBox="1"/>
          <p:nvPr/>
        </p:nvSpPr>
        <p:spPr>
          <a:xfrm>
            <a:off x="229341" y="1212022"/>
            <a:ext cx="859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Amenities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14" name="Google Shape;51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01500"/>
            <a:ext cx="8839199" cy="1506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0" name="Google Shape;520;p62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Amenities EDA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1" name="Google Shape;521;p62"/>
          <p:cNvSpPr txBox="1"/>
          <p:nvPr/>
        </p:nvSpPr>
        <p:spPr>
          <a:xfrm>
            <a:off x="585500" y="1066088"/>
            <a:ext cx="85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Number of Amenities to Median Housing Price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22" name="Google Shape;52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500" y="1701025"/>
            <a:ext cx="3801926" cy="289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8406" y="1600562"/>
            <a:ext cx="3960983" cy="30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63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Description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530" name="Google Shape;530;p63"/>
          <p:cNvGraphicFramePr/>
          <p:nvPr/>
        </p:nvGraphicFramePr>
        <p:xfrm>
          <a:off x="361975" y="1609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{15C5CF8F-0EC3-484D-8BF3-58F0138BA2CA}</a:tableStyleId>
              </a:tblPr>
              <a:tblGrid>
                <a:gridCol w="953250"/>
                <a:gridCol w="599100"/>
                <a:gridCol w="1544900"/>
                <a:gridCol w="1288900"/>
                <a:gridCol w="1332575"/>
                <a:gridCol w="1764725"/>
              </a:tblGrid>
              <a:tr h="54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Zip Code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Violent Crime 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Property Crime 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 Crime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Population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31" name="Google Shape;531;p63"/>
          <p:cNvSpPr txBox="1"/>
          <p:nvPr/>
        </p:nvSpPr>
        <p:spPr>
          <a:xfrm>
            <a:off x="229341" y="1240450"/>
            <a:ext cx="859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Department of Justice California</a:t>
            </a:r>
            <a:endParaRPr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32" name="Google Shape;53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50" y="2866388"/>
            <a:ext cx="8839201" cy="176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64"/>
          <p:cNvSpPr txBox="1"/>
          <p:nvPr/>
        </p:nvSpPr>
        <p:spPr>
          <a:xfrm>
            <a:off x="442800" y="369300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Crime 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9" name="Google Shape;539;p64"/>
          <p:cNvSpPr txBox="1"/>
          <p:nvPr/>
        </p:nvSpPr>
        <p:spPr>
          <a:xfrm>
            <a:off x="367050" y="869150"/>
            <a:ext cx="85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40" name="Google Shape;54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075" y="895151"/>
            <a:ext cx="2981951" cy="3962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8976" y="869150"/>
            <a:ext cx="3149574" cy="40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7" name="Google Shape;547;p65"/>
          <p:cNvSpPr txBox="1"/>
          <p:nvPr/>
        </p:nvSpPr>
        <p:spPr>
          <a:xfrm>
            <a:off x="2006550" y="1801500"/>
            <a:ext cx="50370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Methodologies</a:t>
            </a:r>
            <a:endParaRPr sz="4000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66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Modeling Goal and Setup 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4" name="Google Shape;554;p66"/>
          <p:cNvSpPr txBox="1"/>
          <p:nvPr/>
        </p:nvSpPr>
        <p:spPr>
          <a:xfrm>
            <a:off x="367050" y="1156500"/>
            <a:ext cx="8503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Target: next-year median sale price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Unit of observation: one California zcta5 in one year.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Training/CV data: 2012-2022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Time-blocked expanding-window cross-validation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Final test data: 2023, targeting 2024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Outcome: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55" name="Google Shape;55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17550"/>
            <a:ext cx="8839204" cy="2106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1" name="Google Shape;561;p67"/>
          <p:cNvSpPr txBox="1"/>
          <p:nvPr/>
        </p:nvSpPr>
        <p:spPr>
          <a:xfrm>
            <a:off x="167875" y="451725"/>
            <a:ext cx="347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Linear Regression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2" name="Google Shape;562;p67"/>
          <p:cNvSpPr txBox="1"/>
          <p:nvPr/>
        </p:nvSpPr>
        <p:spPr>
          <a:xfrm>
            <a:off x="310075" y="1293600"/>
            <a:ext cx="318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Why?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Simple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Benchmark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63" name="Google Shape;563;p67"/>
          <p:cNvPicPr preferRelativeResize="0"/>
          <p:nvPr/>
        </p:nvPicPr>
        <p:blipFill rotWithShape="1">
          <a:blip r:embed="rId3">
            <a:alphaModFix/>
          </a:blip>
          <a:srcRect b="61520" l="-2880" r="2880" t="-61520"/>
          <a:stretch/>
        </p:blipFill>
        <p:spPr>
          <a:xfrm>
            <a:off x="-2930837" y="966625"/>
            <a:ext cx="8739379" cy="211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7350" y="1066100"/>
            <a:ext cx="5098735" cy="4078976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67"/>
          <p:cNvSpPr txBox="1"/>
          <p:nvPr/>
        </p:nvSpPr>
        <p:spPr>
          <a:xfrm>
            <a:off x="4525050" y="451725"/>
            <a:ext cx="400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DM Sans"/>
                <a:ea typeface="DM Sans"/>
                <a:cs typeface="DM Sans"/>
                <a:sym typeface="DM Sans"/>
              </a:rPr>
              <a:t>What is parent_metro_region?</a:t>
            </a:r>
            <a:endParaRPr sz="1800">
              <a:solidFill>
                <a:srgbClr val="CC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6" name="Google Shape;566;p67"/>
          <p:cNvSpPr txBox="1"/>
          <p:nvPr/>
        </p:nvSpPr>
        <p:spPr>
          <a:xfrm>
            <a:off x="361975" y="3123050"/>
            <a:ext cx="318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Ridge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L2 regularization to reduce coefficient instability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2" name="Google Shape;572;p68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Linear Regression</a:t>
            </a: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continued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73" name="Google Shape;57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00" y="829625"/>
            <a:ext cx="8578673" cy="410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9" name="Google Shape;579;p69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Random Forest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0" name="Google Shape;580;p69"/>
          <p:cNvSpPr txBox="1"/>
          <p:nvPr/>
        </p:nvSpPr>
        <p:spPr>
          <a:xfrm>
            <a:off x="221400" y="730225"/>
            <a:ext cx="3629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Why?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Feature importance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Nonlinear relationships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81" name="Google Shape;58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3550" y="1029550"/>
            <a:ext cx="4755125" cy="38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25" y="2078300"/>
            <a:ext cx="4062678" cy="264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70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Random Forest continued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89" name="Google Shape;58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525" y="917050"/>
            <a:ext cx="8257050" cy="394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5" name="Google Shape;595;p71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XGBoost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6" name="Google Shape;596;p71"/>
          <p:cNvSpPr txBox="1"/>
          <p:nvPr/>
        </p:nvSpPr>
        <p:spPr>
          <a:xfrm>
            <a:off x="221400" y="730225"/>
            <a:ext cx="388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Why?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Feature interactions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Nonlinear relationships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egularization, shrinkage, and subsampling..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97" name="Google Shape;59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200" y="825625"/>
            <a:ext cx="5129500" cy="41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71"/>
          <p:cNvSpPr txBox="1"/>
          <p:nvPr/>
        </p:nvSpPr>
        <p:spPr>
          <a:xfrm>
            <a:off x="4525050" y="268525"/>
            <a:ext cx="400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DM Sans"/>
                <a:ea typeface="DM Sans"/>
                <a:cs typeface="DM Sans"/>
                <a:sym typeface="DM Sans"/>
              </a:rPr>
              <a:t>Median_sale_price dominates !!!</a:t>
            </a:r>
            <a:endParaRPr sz="1800">
              <a:solidFill>
                <a:srgbClr val="CC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9" name="Google Shape;599;p71"/>
          <p:cNvSpPr txBox="1"/>
          <p:nvPr/>
        </p:nvSpPr>
        <p:spPr>
          <a:xfrm>
            <a:off x="221400" y="2577325"/>
            <a:ext cx="3885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Parameters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700 estimators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0.035 learning rate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 max depth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….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5" name="Google Shape;605;p72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XGBoost</a:t>
            </a: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continued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06" name="Google Shape;60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2625"/>
            <a:ext cx="8594647" cy="410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2" name="Google Shape;612;p73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13" name="Google Shape;613;p73"/>
          <p:cNvGraphicFramePr/>
          <p:nvPr/>
        </p:nvGraphicFramePr>
        <p:xfrm>
          <a:off x="700125" y="113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{15C5CF8F-0EC3-484D-8BF3-58F0138BA2CA}</a:tableStyleId>
              </a:tblPr>
              <a:tblGrid>
                <a:gridCol w="2031600"/>
                <a:gridCol w="2031600"/>
                <a:gridCol w="2039475"/>
                <a:gridCol w="2023725"/>
              </a:tblGrid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MAE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RMSE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R²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Linear/Ridge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$203.9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$1260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-2.32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Random Forest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$103.2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$246.0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0.874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XGBoost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$68.8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$135.1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0.962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9" name="Google Shape;619;p74"/>
          <p:cNvSpPr txBox="1"/>
          <p:nvPr/>
        </p:nvSpPr>
        <p:spPr>
          <a:xfrm>
            <a:off x="2006550" y="1801500"/>
            <a:ext cx="50370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Milestones</a:t>
            </a:r>
            <a:endParaRPr sz="4000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5" name="Google Shape;625;p75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Roadblocks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6" name="Google Shape;626;p75"/>
          <p:cNvSpPr txBox="1"/>
          <p:nvPr/>
        </p:nvSpPr>
        <p:spPr>
          <a:xfrm>
            <a:off x="367050" y="1156500"/>
            <a:ext cx="8503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Roadblocks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Sources are messy and don’t cleanly fit into each other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School Data is missing 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years of data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■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2014 due to company’s transition to new assessment regime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■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2020 due to covid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2" name="Google Shape;632;p76"/>
          <p:cNvSpPr txBox="1"/>
          <p:nvPr/>
        </p:nvSpPr>
        <p:spPr>
          <a:xfrm>
            <a:off x="486800" y="-469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Milestone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3" name="Google Shape;633;p76"/>
          <p:cNvSpPr txBox="1"/>
          <p:nvPr/>
        </p:nvSpPr>
        <p:spPr>
          <a:xfrm>
            <a:off x="367050" y="1156500"/>
            <a:ext cx="8503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Week 6-7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Finish training and tuning forecasting models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Week 7-9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Start and Finish Expo Poster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Finish final touches on figures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9" name="Google Shape;639;p77"/>
          <p:cNvSpPr txBox="1"/>
          <p:nvPr/>
        </p:nvSpPr>
        <p:spPr>
          <a:xfrm>
            <a:off x="2006550" y="1801500"/>
            <a:ext cx="50370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Thank You! </a:t>
            </a:r>
            <a:endParaRPr sz="4000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