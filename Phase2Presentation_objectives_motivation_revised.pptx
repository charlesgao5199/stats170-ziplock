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Newsreader"/>
      <p:regular r:id="rId30"/>
      <p:bold r:id="rId31"/>
      <p:italic r:id="rId32"/>
      <p:boldItalic r:id="rId33"/>
    </p:embeddedFont>
    <p:embeddedFont>
      <p:font typeface="DM Sans Light"/>
      <p:regular r:id="rId34"/>
      <p:bold r:id="rId35"/>
      <p:italic r:id="rId36"/>
      <p:boldItalic r:id="rId37"/>
    </p:embeddedFont>
    <p:embeddedFont>
      <p:font typeface="DM Sans SemiBold"/>
      <p:regular r:id="rId38"/>
      <p:bold r:id="rId39"/>
      <p:italic r:id="rId40"/>
      <p:boldItalic r:id="rId41"/>
    </p:embeddedFont>
    <p:embeddedFont>
      <p:font typeface="DM Sans"/>
      <p:regular r:id="rId42"/>
      <p:bold r:id="rId43"/>
      <p:italic r:id="rId44"/>
      <p:boldItalic r:id="rId45"/>
    </p:embeddedFont>
    <p:embeddedFont>
      <p:font typeface="Newsreader SemiBold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5C5CF8F-0EC3-484D-8BF3-58F0138BA2CA}">
  <a:tblStyle styleId="{15C5CF8F-0EC3-484D-8BF3-58F0138BA2C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SemiBold-italic.fntdata"/><Relationship Id="rId42" Type="http://schemas.openxmlformats.org/officeDocument/2006/relationships/font" Target="fonts/DMSans-regular.fntdata"/><Relationship Id="rId41" Type="http://schemas.openxmlformats.org/officeDocument/2006/relationships/font" Target="fonts/DMSansSemiBold-boldItalic.fntdata"/><Relationship Id="rId44" Type="http://schemas.openxmlformats.org/officeDocument/2006/relationships/font" Target="fonts/DMSans-italic.fntdata"/><Relationship Id="rId43" Type="http://schemas.openxmlformats.org/officeDocument/2006/relationships/font" Target="fonts/DMSans-bold.fntdata"/><Relationship Id="rId46" Type="http://schemas.openxmlformats.org/officeDocument/2006/relationships/font" Target="fonts/NewsreaderSemiBold-regular.fntdata"/><Relationship Id="rId45" Type="http://schemas.openxmlformats.org/officeDocument/2006/relationships/font" Target="fonts/DM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NewsreaderSemiBold-italic.fntdata"/><Relationship Id="rId47" Type="http://schemas.openxmlformats.org/officeDocument/2006/relationships/font" Target="fonts/NewsreaderSemiBold-bold.fntdata"/><Relationship Id="rId49" Type="http://schemas.openxmlformats.org/officeDocument/2006/relationships/font" Target="fonts/NewsreaderSemiBold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Newsreader-bold.fntdata"/><Relationship Id="rId30" Type="http://schemas.openxmlformats.org/officeDocument/2006/relationships/font" Target="fonts/Newsreader-regular.fntdata"/><Relationship Id="rId33" Type="http://schemas.openxmlformats.org/officeDocument/2006/relationships/font" Target="fonts/Newsreader-boldItalic.fntdata"/><Relationship Id="rId32" Type="http://schemas.openxmlformats.org/officeDocument/2006/relationships/font" Target="fonts/Newsreader-italic.fntdata"/><Relationship Id="rId35" Type="http://schemas.openxmlformats.org/officeDocument/2006/relationships/font" Target="fonts/DMSansLight-bold.fntdata"/><Relationship Id="rId34" Type="http://schemas.openxmlformats.org/officeDocument/2006/relationships/font" Target="fonts/DMSansLight-regular.fntdata"/><Relationship Id="rId37" Type="http://schemas.openxmlformats.org/officeDocument/2006/relationships/font" Target="fonts/DMSansLight-boldItalic.fntdata"/><Relationship Id="rId36" Type="http://schemas.openxmlformats.org/officeDocument/2006/relationships/font" Target="fonts/DMSansLight-italic.fntdata"/><Relationship Id="rId39" Type="http://schemas.openxmlformats.org/officeDocument/2006/relationships/font" Target="fonts/DMSansSemiBold-bold.fntdata"/><Relationship Id="rId38" Type="http://schemas.openxmlformats.org/officeDocument/2006/relationships/font" Target="fonts/DMSansSemiBold-regular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d4150126e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d4150126e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d4150126e8_0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3d4150126e8_0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dda64cbca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dda64cbca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dd9d583ad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dd9d583ad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d600ec10b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d600ec10b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de65806de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de65806de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de65806de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de65806de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de65806de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de65806de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d62159de58_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3d62159de58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de76b0245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de76b0245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d600ec10b2_0_8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d600ec10b2_0_8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de65806de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3de65806de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d600ec10b2_0_8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3d600ec10b2_0_8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dda64cbcaa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3dda64cbcaa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dda64cbca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3dda64cbca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dda64cbcaa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3dda64cbcaa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dda64cbcaa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3dda64cbcaa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dda64cbcaa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3dda64cbcaa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d600ec10b2_0_9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3d600ec10b2_0_9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primary standard is temporal validation, because our real goal is to use year t features to predict price growth in year t+1 under future market conditions.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“good” model should have higher R², lower MAE/RMSE, and ideally positive temporal R², not just improvement relative to another model.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grouped-ZCTA test is a secondary check: if R² is positive there, the model is learning meaningful cross-sectional differences across neighborhoods, even if forecasting over time is harder.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our results, Model 2 outperforms Model 1 in both evaluation methods, so school features add some incremental signal.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However, the best temporal R² is still negative (-0.025), so the models are promising but not yet strong forecasting models; they currently explain spatial variation better than future market shifts.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adding school features, Model 2 is better, but neither model is yet “good” in the strict forecasting sense because temporal prediction remains weak.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d600ec10b2_0_8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3d600ec10b2_0_8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d4150126e8_0_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3d4150126e8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dd9d583ad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3dd9d583ad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d600ec10b2_0_8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3d600ec10b2_0_8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BLANK_1_1_1_1_3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2" type="subTitle"/>
          </p:nvPr>
        </p:nvSpPr>
        <p:spPr>
          <a:xfrm>
            <a:off x="362125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3" type="subTitle"/>
          </p:nvPr>
        </p:nvSpPr>
        <p:spPr>
          <a:xfrm>
            <a:off x="3154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4" type="subTitle"/>
          </p:nvPr>
        </p:nvSpPr>
        <p:spPr>
          <a:xfrm>
            <a:off x="6216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5" type="subTitle"/>
          </p:nvPr>
        </p:nvSpPr>
        <p:spPr>
          <a:xfrm>
            <a:off x="362125" y="2206700"/>
            <a:ext cx="2575800" cy="12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eyebrow ">
  <p:cSld name="BLANK_1_1_1_1_2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61975" y="962100"/>
            <a:ext cx="4163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" name="Google Shape;30;p5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6" type="subTitle"/>
          </p:nvPr>
        </p:nvSpPr>
        <p:spPr>
          <a:xfrm>
            <a:off x="3619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7" type="subTitle"/>
          </p:nvPr>
        </p:nvSpPr>
        <p:spPr>
          <a:xfrm>
            <a:off x="49096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">
  <p:cSld name="BLANK_1_1_1_1_1_1_1_1_1_1_1_1_1_1_2">
    <p:bg>
      <p:bgPr>
        <a:solidFill>
          <a:schemeClr val="accent6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u="sng"/>
          </a:p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40" name="Google Shape;40;p6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46" name="Google Shape;46;p6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 - Alt 1">
  <p:cSld name="BLANK_1_1_1_1_1_1_1_1_1_1_1_1_1_1_2_2">
    <p:bg>
      <p:bgPr>
        <a:solidFill>
          <a:schemeClr val="accent6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2" type="body"/>
          </p:nvPr>
        </p:nvSpPr>
        <p:spPr>
          <a:xfrm>
            <a:off x="4845475" y="99868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50" name="Google Shape;50;p7"/>
          <p:cNvSpPr txBox="1"/>
          <p:nvPr>
            <p:ph idx="3" type="subTitle"/>
          </p:nvPr>
        </p:nvSpPr>
        <p:spPr>
          <a:xfrm>
            <a:off x="4845475" y="66604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1" name="Google Shape;51;p7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4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5" type="body"/>
          </p:nvPr>
        </p:nvSpPr>
        <p:spPr>
          <a:xfrm>
            <a:off x="4845475" y="392743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6" type="subTitle"/>
          </p:nvPr>
        </p:nvSpPr>
        <p:spPr>
          <a:xfrm>
            <a:off x="4845475" y="359479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5" name="Google Shape;55;p7"/>
          <p:cNvSpPr txBox="1"/>
          <p:nvPr>
            <p:ph idx="7" type="body"/>
          </p:nvPr>
        </p:nvSpPr>
        <p:spPr>
          <a:xfrm>
            <a:off x="4845475" y="2431037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" name="Google Shape;56;p7"/>
          <p:cNvSpPr txBox="1"/>
          <p:nvPr>
            <p:ph idx="8" type="subTitle"/>
          </p:nvPr>
        </p:nvSpPr>
        <p:spPr>
          <a:xfrm>
            <a:off x="4845475" y="2098390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7" name="Google Shape;57;p7"/>
          <p:cNvSpPr txBox="1"/>
          <p:nvPr>
            <p:ph idx="9" type="body"/>
          </p:nvPr>
        </p:nvSpPr>
        <p:spPr>
          <a:xfrm>
            <a:off x="356100" y="3243900"/>
            <a:ext cx="2798700" cy="133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Dark">
  <p:cSld name="BLANK_1_1_1_1_1_1_1_1_1_1_1_1_1_1_2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8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62" name="Google Shape;62;p8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3" name="Google Shape;63;p8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5" name="Google Shape;65;p8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66" name="Google Shape;66;p8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" name="Google Shape;68;p8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four big ideas">
  <p:cSld name="BLANK_1_1_1_1_1_1_1_1_1_1_1_1_1_1_1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/>
          <p:nvPr>
            <p:ph idx="1" type="body"/>
          </p:nvPr>
        </p:nvSpPr>
        <p:spPr>
          <a:xfrm>
            <a:off x="2610420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71" name="Google Shape;71;p9"/>
          <p:cNvSpPr txBox="1"/>
          <p:nvPr>
            <p:ph idx="2" type="subTitle"/>
          </p:nvPr>
        </p:nvSpPr>
        <p:spPr>
          <a:xfrm>
            <a:off x="2610418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2" name="Google Shape;72;p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9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9"/>
          <p:cNvSpPr txBox="1"/>
          <p:nvPr>
            <p:ph idx="4" type="body"/>
          </p:nvPr>
        </p:nvSpPr>
        <p:spPr>
          <a:xfrm>
            <a:off x="4889772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" name="Google Shape;75;p9"/>
          <p:cNvSpPr txBox="1"/>
          <p:nvPr>
            <p:ph idx="5" type="subTitle"/>
          </p:nvPr>
        </p:nvSpPr>
        <p:spPr>
          <a:xfrm>
            <a:off x="48897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6" name="Google Shape;76;p9"/>
          <p:cNvSpPr txBox="1"/>
          <p:nvPr>
            <p:ph idx="6" type="body"/>
          </p:nvPr>
        </p:nvSpPr>
        <p:spPr>
          <a:xfrm>
            <a:off x="713087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77" name="Google Shape;77;p9"/>
          <p:cNvSpPr txBox="1"/>
          <p:nvPr>
            <p:ph idx="7" type="subTitle"/>
          </p:nvPr>
        </p:nvSpPr>
        <p:spPr>
          <a:xfrm>
            <a:off x="71308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8" name="Google Shape;78;p9"/>
          <p:cNvSpPr txBox="1"/>
          <p:nvPr>
            <p:ph idx="8" type="body"/>
          </p:nvPr>
        </p:nvSpPr>
        <p:spPr>
          <a:xfrm>
            <a:off x="36052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9"/>
          <p:cNvSpPr txBox="1"/>
          <p:nvPr>
            <p:ph idx="9" type="subTitle"/>
          </p:nvPr>
        </p:nvSpPr>
        <p:spPr>
          <a:xfrm>
            <a:off x="360533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0" name="Google Shape;80;p9"/>
          <p:cNvSpPr txBox="1"/>
          <p:nvPr>
            <p:ph idx="1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1" name="Google Shape;81;p9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BLANK_1_1_1_1_1_1_1_1_1_1_1_1_1_1_1_3">
    <p:bg>
      <p:bgPr>
        <a:solidFill>
          <a:schemeClr val="accent2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1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2" type="body"/>
          </p:nvPr>
        </p:nvSpPr>
        <p:spPr>
          <a:xfrm>
            <a:off x="3619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3" type="subTitle"/>
          </p:nvPr>
        </p:nvSpPr>
        <p:spPr>
          <a:xfrm>
            <a:off x="3619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7" name="Google Shape;87;p10"/>
          <p:cNvSpPr txBox="1"/>
          <p:nvPr>
            <p:ph idx="4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8" name="Google Shape;88;p10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89" name="Google Shape;89;p10"/>
          <p:cNvSpPr txBox="1"/>
          <p:nvPr>
            <p:ph idx="5" type="subTitle"/>
          </p:nvPr>
        </p:nvSpPr>
        <p:spPr>
          <a:xfrm>
            <a:off x="73192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0" name="Google Shape;90;p10"/>
          <p:cNvSpPr txBox="1"/>
          <p:nvPr>
            <p:ph idx="6" type="body"/>
          </p:nvPr>
        </p:nvSpPr>
        <p:spPr>
          <a:xfrm>
            <a:off x="210130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1" name="Google Shape;91;p10"/>
          <p:cNvSpPr txBox="1"/>
          <p:nvPr>
            <p:ph idx="7" type="body"/>
          </p:nvPr>
        </p:nvSpPr>
        <p:spPr>
          <a:xfrm>
            <a:off x="384062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2" name="Google Shape;92;p10"/>
          <p:cNvSpPr txBox="1"/>
          <p:nvPr>
            <p:ph idx="8" type="body"/>
          </p:nvPr>
        </p:nvSpPr>
        <p:spPr>
          <a:xfrm>
            <a:off x="557995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3" name="Google Shape;93;p10"/>
          <p:cNvSpPr txBox="1"/>
          <p:nvPr>
            <p:ph idx="9" type="subTitle"/>
          </p:nvPr>
        </p:nvSpPr>
        <p:spPr>
          <a:xfrm>
            <a:off x="210130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4" name="Google Shape;94;p10"/>
          <p:cNvSpPr txBox="1"/>
          <p:nvPr>
            <p:ph idx="13" type="subTitle"/>
          </p:nvPr>
        </p:nvSpPr>
        <p:spPr>
          <a:xfrm>
            <a:off x="384062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5" name="Google Shape;95;p10"/>
          <p:cNvSpPr txBox="1"/>
          <p:nvPr>
            <p:ph idx="14" type="subTitle"/>
          </p:nvPr>
        </p:nvSpPr>
        <p:spPr>
          <a:xfrm>
            <a:off x="557995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6" name="Google Shape;96;p10"/>
          <p:cNvSpPr txBox="1"/>
          <p:nvPr>
            <p:ph idx="15" type="body"/>
          </p:nvPr>
        </p:nvSpPr>
        <p:spPr>
          <a:xfrm>
            <a:off x="73192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1"/>
          <p:cNvSpPr txBox="1"/>
          <p:nvPr>
            <p:ph idx="2" type="body"/>
          </p:nvPr>
        </p:nvSpPr>
        <p:spPr>
          <a:xfrm>
            <a:off x="71308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idx="3" type="subTitle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2" name="Google Shape;102;p11"/>
          <p:cNvSpPr txBox="1"/>
          <p:nvPr>
            <p:ph idx="4" type="subTitle"/>
          </p:nvPr>
        </p:nvSpPr>
        <p:spPr>
          <a:xfrm>
            <a:off x="71308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3" name="Google Shape;103;p11"/>
          <p:cNvSpPr txBox="1"/>
          <p:nvPr>
            <p:ph idx="5" type="body"/>
          </p:nvPr>
        </p:nvSpPr>
        <p:spPr>
          <a:xfrm>
            <a:off x="4892138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4" name="Google Shape;104;p11"/>
          <p:cNvSpPr txBox="1"/>
          <p:nvPr>
            <p:ph idx="6" type="subTitle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5" name="Google Shape;105;p11"/>
          <p:cNvSpPr txBox="1"/>
          <p:nvPr>
            <p:ph idx="7" type="subTitle"/>
          </p:nvPr>
        </p:nvSpPr>
        <p:spPr>
          <a:xfrm>
            <a:off x="4892138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8" type="body"/>
          </p:nvPr>
        </p:nvSpPr>
        <p:spPr>
          <a:xfrm>
            <a:off x="2607050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9" type="subTitle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8" name="Google Shape;108;p11"/>
          <p:cNvSpPr txBox="1"/>
          <p:nvPr>
            <p:ph idx="13" type="subTitle"/>
          </p:nvPr>
        </p:nvSpPr>
        <p:spPr>
          <a:xfrm>
            <a:off x="2607050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9" name="Google Shape;109;p11"/>
          <p:cNvSpPr txBox="1"/>
          <p:nvPr>
            <p:ph idx="14" type="body"/>
          </p:nvPr>
        </p:nvSpPr>
        <p:spPr>
          <a:xfrm>
            <a:off x="3619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0" name="Google Shape;110;p11"/>
          <p:cNvSpPr txBox="1"/>
          <p:nvPr>
            <p:ph idx="15" type="subTitle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1" name="Google Shape;111;p11"/>
          <p:cNvSpPr txBox="1"/>
          <p:nvPr>
            <p:ph idx="16" type="subTitle"/>
          </p:nvPr>
        </p:nvSpPr>
        <p:spPr>
          <a:xfrm>
            <a:off x="3619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2" name="Google Shape;112;p11"/>
          <p:cNvSpPr txBox="1"/>
          <p:nvPr>
            <p:ph idx="17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3" name="Google Shape;113;p11"/>
          <p:cNvSpPr txBox="1"/>
          <p:nvPr>
            <p:ph type="title"/>
          </p:nvPr>
        </p:nvSpPr>
        <p:spPr>
          <a:xfrm>
            <a:off x="1406600" y="988557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7_1_1_1_1_1_1_1_1_1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12"/>
          <p:cNvSpPr txBox="1"/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7" name="Google Shape;117;p12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2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and Four steps">
  <p:cSld name="CUSTOM_7_1_1_1_1_1_1_1_1_1_1_1_1_1_1_1_1_1_2"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1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13"/>
          <p:cNvSpPr/>
          <p:nvPr/>
        </p:nvSpPr>
        <p:spPr>
          <a:xfrm>
            <a:off x="50" y="2785800"/>
            <a:ext cx="2294400" cy="23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2286125" y="2068875"/>
            <a:ext cx="2294400" cy="307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4" name="Google Shape;124;p13"/>
          <p:cNvSpPr/>
          <p:nvPr/>
        </p:nvSpPr>
        <p:spPr>
          <a:xfrm>
            <a:off x="4565475" y="1495326"/>
            <a:ext cx="2294400" cy="364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6849550" y="732775"/>
            <a:ext cx="2294400" cy="441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375350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01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7" name="Google Shape;127;p13"/>
          <p:cNvSpPr txBox="1"/>
          <p:nvPr/>
        </p:nvSpPr>
        <p:spPr>
          <a:xfrm>
            <a:off x="26651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02</a:t>
            </a:r>
            <a:endParaRPr sz="30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4937688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03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72305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04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30" name="Google Shape;130;p13"/>
          <p:cNvSpPr txBox="1"/>
          <p:nvPr>
            <p:ph type="title"/>
          </p:nvPr>
        </p:nvSpPr>
        <p:spPr>
          <a:xfrm>
            <a:off x="361975" y="988782"/>
            <a:ext cx="3231600" cy="7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131" name="Google Shape;131;p13"/>
          <p:cNvSpPr txBox="1"/>
          <p:nvPr>
            <p:ph idx="2" type="subTitle"/>
          </p:nvPr>
        </p:nvSpPr>
        <p:spPr>
          <a:xfrm>
            <a:off x="382691" y="3129231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3"/>
          <p:cNvSpPr txBox="1"/>
          <p:nvPr>
            <p:ph idx="3" type="subTitle"/>
          </p:nvPr>
        </p:nvSpPr>
        <p:spPr>
          <a:xfrm>
            <a:off x="377048" y="3344302"/>
            <a:ext cx="1689600" cy="9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3" name="Google Shape;133;p13"/>
          <p:cNvSpPr txBox="1"/>
          <p:nvPr>
            <p:ph idx="4" type="subTitle"/>
          </p:nvPr>
        </p:nvSpPr>
        <p:spPr>
          <a:xfrm>
            <a:off x="2671462" y="2450249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4" name="Google Shape;134;p13"/>
          <p:cNvSpPr txBox="1"/>
          <p:nvPr>
            <p:ph idx="5" type="subTitle"/>
          </p:nvPr>
        </p:nvSpPr>
        <p:spPr>
          <a:xfrm>
            <a:off x="2665825" y="2665171"/>
            <a:ext cx="1689600" cy="14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6" type="subTitle"/>
          </p:nvPr>
        </p:nvSpPr>
        <p:spPr>
          <a:xfrm>
            <a:off x="4943337" y="18846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7" type="subTitle"/>
          </p:nvPr>
        </p:nvSpPr>
        <p:spPr>
          <a:xfrm>
            <a:off x="4937700" y="2099593"/>
            <a:ext cx="1689600" cy="16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7" name="Google Shape;137;p13"/>
          <p:cNvSpPr txBox="1"/>
          <p:nvPr>
            <p:ph idx="8" type="subTitle"/>
          </p:nvPr>
        </p:nvSpPr>
        <p:spPr>
          <a:xfrm>
            <a:off x="7238787" y="10574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3"/>
          <p:cNvSpPr txBox="1"/>
          <p:nvPr>
            <p:ph idx="9" type="subTitle"/>
          </p:nvPr>
        </p:nvSpPr>
        <p:spPr>
          <a:xfrm>
            <a:off x="7233150" y="1272358"/>
            <a:ext cx="1689600" cy="21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Light">
  <p:cSld name="CUSTOM_7_1_1_1_1_1_1_1_1_1_1_1_1_1_1_1_1_1_1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4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/>
        </p:txBody>
      </p:sp>
      <p:sp>
        <p:nvSpPr>
          <p:cNvPr id="143" name="Google Shape;143;p14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4" name="Google Shape;144;p14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45" name="Google Shape;145;p14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">
  <p:cSld name="CUSTOM_7_1_1_1_1_1_1_1_1_1_1_1_1_1_1_1_1_1_1_1_1"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1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" name="Google Shape;149;p15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15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1" name="Google Shape;151;p15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modules">
  <p:cSld name="CUSTOM"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16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6" name="Google Shape;156;p16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7" name="Google Shape;157;p16"/>
          <p:cNvSpPr txBox="1"/>
          <p:nvPr>
            <p:ph idx="3" type="body"/>
          </p:nvPr>
        </p:nvSpPr>
        <p:spPr>
          <a:xfrm>
            <a:off x="361975" y="3256513"/>
            <a:ext cx="3860100" cy="132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8" name="Google Shape;158;p16"/>
          <p:cNvSpPr txBox="1"/>
          <p:nvPr>
            <p:ph idx="4" type="title"/>
          </p:nvPr>
        </p:nvSpPr>
        <p:spPr>
          <a:xfrm>
            <a:off x="48008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59" name="Google Shape;159;p16"/>
          <p:cNvSpPr txBox="1"/>
          <p:nvPr>
            <p:ph idx="5" type="title"/>
          </p:nvPr>
        </p:nvSpPr>
        <p:spPr>
          <a:xfrm>
            <a:off x="70949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6" type="title"/>
          </p:nvPr>
        </p:nvSpPr>
        <p:spPr>
          <a:xfrm>
            <a:off x="4800825" y="1698225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7" type="body"/>
          </p:nvPr>
        </p:nvSpPr>
        <p:spPr>
          <a:xfrm>
            <a:off x="4800825" y="4122308"/>
            <a:ext cx="39759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62" name="Google Shape;162;p16"/>
          <p:cNvSpPr txBox="1"/>
          <p:nvPr>
            <p:ph idx="8" type="title"/>
          </p:nvPr>
        </p:nvSpPr>
        <p:spPr>
          <a:xfrm>
            <a:off x="4800825" y="3215225"/>
            <a:ext cx="3975900" cy="79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9" type="body"/>
          </p:nvPr>
        </p:nvSpPr>
        <p:spPr>
          <a:xfrm>
            <a:off x="4800825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13" type="body"/>
          </p:nvPr>
        </p:nvSpPr>
        <p:spPr>
          <a:xfrm>
            <a:off x="7115650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4" type="body"/>
          </p:nvPr>
        </p:nvSpPr>
        <p:spPr>
          <a:xfrm>
            <a:off x="4800825" y="8601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modules">
  <p:cSld name="CUSTOM_1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17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17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17"/>
          <p:cNvSpPr txBox="1"/>
          <p:nvPr>
            <p:ph idx="3" type="body"/>
          </p:nvPr>
        </p:nvSpPr>
        <p:spPr>
          <a:xfrm>
            <a:off x="4800825" y="3665600"/>
            <a:ext cx="39759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17"/>
          <p:cNvSpPr txBox="1"/>
          <p:nvPr>
            <p:ph idx="4" type="subTitle"/>
          </p:nvPr>
        </p:nvSpPr>
        <p:spPr>
          <a:xfrm>
            <a:off x="4800825" y="3285232"/>
            <a:ext cx="3975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2" name="Google Shape;172;p17"/>
          <p:cNvSpPr txBox="1"/>
          <p:nvPr>
            <p:ph idx="5" type="body"/>
          </p:nvPr>
        </p:nvSpPr>
        <p:spPr>
          <a:xfrm>
            <a:off x="2611802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73" name="Google Shape;173;p17"/>
          <p:cNvSpPr txBox="1"/>
          <p:nvPr>
            <p:ph idx="6" type="subTitle"/>
          </p:nvPr>
        </p:nvSpPr>
        <p:spPr>
          <a:xfrm>
            <a:off x="2611802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74" name="Google Shape;174;p17"/>
          <p:cNvSpPr txBox="1"/>
          <p:nvPr>
            <p:ph idx="7" type="body"/>
          </p:nvPr>
        </p:nvSpPr>
        <p:spPr>
          <a:xfrm>
            <a:off x="361977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17"/>
          <p:cNvSpPr txBox="1"/>
          <p:nvPr>
            <p:ph idx="8" type="subTitle"/>
          </p:nvPr>
        </p:nvSpPr>
        <p:spPr>
          <a:xfrm>
            <a:off x="361977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9" type="body"/>
          </p:nvPr>
        </p:nvSpPr>
        <p:spPr>
          <a:xfrm>
            <a:off x="490072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7" name="Google Shape;177;p17"/>
          <p:cNvSpPr txBox="1"/>
          <p:nvPr>
            <p:ph idx="13" type="subTitle"/>
          </p:nvPr>
        </p:nvSpPr>
        <p:spPr>
          <a:xfrm>
            <a:off x="490072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14" type="body"/>
          </p:nvPr>
        </p:nvSpPr>
        <p:spPr>
          <a:xfrm>
            <a:off x="714917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79" name="Google Shape;179;p17"/>
          <p:cNvSpPr txBox="1"/>
          <p:nvPr>
            <p:ph idx="15" type="subTitle"/>
          </p:nvPr>
        </p:nvSpPr>
        <p:spPr>
          <a:xfrm>
            <a:off x="714917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80" name="Google Shape;180;p1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modules">
  <p:cSld name="CUSTOM_1_1"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3" name="Google Shape;183;p18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" name="Google Shape;184;p1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18"/>
          <p:cNvSpPr txBox="1"/>
          <p:nvPr>
            <p:ph type="title"/>
          </p:nvPr>
        </p:nvSpPr>
        <p:spPr>
          <a:xfrm>
            <a:off x="5796575" y="2351325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18"/>
          <p:cNvSpPr txBox="1"/>
          <p:nvPr>
            <p:ph idx="3" type="title"/>
          </p:nvPr>
        </p:nvSpPr>
        <p:spPr>
          <a:xfrm>
            <a:off x="5796575" y="507450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9pPr>
          </a:lstStyle>
          <a:p/>
        </p:txBody>
      </p:sp>
      <p:sp>
        <p:nvSpPr>
          <p:cNvPr id="187" name="Google Shape;187;p18"/>
          <p:cNvSpPr txBox="1"/>
          <p:nvPr>
            <p:ph idx="4" type="subTitle"/>
          </p:nvPr>
        </p:nvSpPr>
        <p:spPr>
          <a:xfrm>
            <a:off x="5712600" y="4290612"/>
            <a:ext cx="2613300" cy="54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8" name="Google Shape;188;p18"/>
          <p:cNvSpPr txBox="1"/>
          <p:nvPr>
            <p:ph idx="5" type="subTitle"/>
          </p:nvPr>
        </p:nvSpPr>
        <p:spPr>
          <a:xfrm>
            <a:off x="5712600" y="3243901"/>
            <a:ext cx="2613300" cy="43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9" name="Google Shape;189;p18"/>
          <p:cNvSpPr txBox="1"/>
          <p:nvPr>
            <p:ph idx="6" type="subTitle"/>
          </p:nvPr>
        </p:nvSpPr>
        <p:spPr>
          <a:xfrm>
            <a:off x="5712600" y="1318375"/>
            <a:ext cx="2613300" cy="48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modules">
  <p:cSld name="CUSTOM_1_1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9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1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19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1">
  <p:cSld name="CUSTOM_2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  <a:noFill/>
          <a:ln>
            <a:noFill/>
          </a:ln>
        </p:spPr>
      </p:sp>
      <p:sp>
        <p:nvSpPr>
          <p:cNvPr id="197" name="Google Shape;197;p20"/>
          <p:cNvSpPr/>
          <p:nvPr/>
        </p:nvSpPr>
        <p:spPr>
          <a:xfrm>
            <a:off x="6289085" y="0"/>
            <a:ext cx="2853300" cy="17931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8" name="Google Shape;198;p20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99" name="Google Shape;199;p20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0" name="Google Shape;200;p2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20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2">
  <p:cSld name="CUSTOM_2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2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21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6" name="Google Shape;206;p21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7" name="Google Shape;207;p21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08" name="Google Shape;208;p21"/>
          <p:cNvSpPr/>
          <p:nvPr>
            <p:ph idx="4" type="pic"/>
          </p:nvPr>
        </p:nvSpPr>
        <p:spPr>
          <a:xfrm>
            <a:off x="3982589" y="2427948"/>
            <a:ext cx="1179600" cy="141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3">
  <p:cSld name="CUSTOM_2_1_2">
    <p:bg>
      <p:bgPr>
        <a:solidFill>
          <a:schemeClr val="accent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2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22"/>
          <p:cNvSpPr txBox="1"/>
          <p:nvPr>
            <p:ph idx="2" type="subTitle"/>
          </p:nvPr>
        </p:nvSpPr>
        <p:spPr>
          <a:xfrm>
            <a:off x="315465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3" name="Google Shape;213;p22"/>
          <p:cNvSpPr txBox="1"/>
          <p:nvPr>
            <p:ph type="title"/>
          </p:nvPr>
        </p:nvSpPr>
        <p:spPr>
          <a:xfrm>
            <a:off x="3154650" y="1801500"/>
            <a:ext cx="5622000" cy="283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14" name="Google Shape;214;p22"/>
          <p:cNvSpPr/>
          <p:nvPr>
            <p:ph idx="3" type="pic"/>
          </p:nvPr>
        </p:nvSpPr>
        <p:spPr>
          <a:xfrm>
            <a:off x="361975" y="1066100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CUSTOM_2_1_2_1_2">
    <p:bg>
      <p:bgPr>
        <a:solidFill>
          <a:schemeClr val="lt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/>
          <p:nvPr>
            <p:ph idx="2" type="pic"/>
          </p:nvPr>
        </p:nvSpPr>
        <p:spPr>
          <a:xfrm>
            <a:off x="361975" y="781775"/>
            <a:ext cx="2872800" cy="3783300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2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" name="Google Shape;218;p2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9" name="Google Shape;219;p23"/>
          <p:cNvSpPr txBox="1"/>
          <p:nvPr>
            <p:ph idx="3" type="subTitle"/>
          </p:nvPr>
        </p:nvSpPr>
        <p:spPr>
          <a:xfrm>
            <a:off x="365760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657600" y="1555450"/>
            <a:ext cx="5622000" cy="175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23"/>
          <p:cNvSpPr txBox="1"/>
          <p:nvPr>
            <p:ph idx="4" type="body"/>
          </p:nvPr>
        </p:nvSpPr>
        <p:spPr>
          <a:xfrm>
            <a:off x="3657600" y="3556575"/>
            <a:ext cx="3554400" cy="10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5">
  <p:cSld name="CUSTOM_2_1_2_1_1">
    <p:bg>
      <p:bgPr>
        <a:solidFill>
          <a:schemeClr val="accent2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reflective glass facade of a skyscraper. " id="223" name="Google Shape;223;p24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2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4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27" name="Google Shape;227;p24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28" name="Google Shape;228;p24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29" name="Google Shape;229;p24"/>
          <p:cNvSpPr/>
          <p:nvPr>
            <p:ph idx="4" type="pic"/>
          </p:nvPr>
        </p:nvSpPr>
        <p:spPr>
          <a:xfrm>
            <a:off x="3588150" y="2027104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2_1_1_1">
    <p:bg>
      <p:bgPr>
        <a:solidFill>
          <a:schemeClr val="accent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odern glass skyscraper. " id="231" name="Google Shape;231;p25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2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25"/>
          <p:cNvSpPr txBox="1"/>
          <p:nvPr>
            <p:ph idx="2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35" name="Google Shape;235;p25"/>
          <p:cNvSpPr txBox="1"/>
          <p:nvPr>
            <p:ph type="title"/>
          </p:nvPr>
        </p:nvSpPr>
        <p:spPr>
          <a:xfrm>
            <a:off x="1128900" y="1430400"/>
            <a:ext cx="6886200" cy="228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verview - Six modules">
  <p:cSld name="CUSTOM_3">
    <p:bg>
      <p:bgPr>
        <a:solidFill>
          <a:schemeClr val="lt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7" name="Google Shape;237;p26"/>
          <p:cNvCxnSpPr/>
          <p:nvPr/>
        </p:nvCxnSpPr>
        <p:spPr>
          <a:xfrm>
            <a:off x="6096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26"/>
          <p:cNvCxnSpPr/>
          <p:nvPr/>
        </p:nvCxnSpPr>
        <p:spPr>
          <a:xfrm>
            <a:off x="3048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26"/>
          <p:cNvCxnSpPr/>
          <p:nvPr/>
        </p:nvCxnSpPr>
        <p:spPr>
          <a:xfrm>
            <a:off x="50" y="3174279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63200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361975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2" name="Google Shape;242;p2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3" name="Google Shape;243;p26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4" name="Google Shape;244;p26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" name="Google Shape;245;p26"/>
          <p:cNvSpPr txBox="1"/>
          <p:nvPr>
            <p:ph idx="4" type="subTitle"/>
          </p:nvPr>
        </p:nvSpPr>
        <p:spPr>
          <a:xfrm>
            <a:off x="341182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26"/>
          <p:cNvSpPr txBox="1"/>
          <p:nvPr>
            <p:ph idx="5" type="subTitle"/>
          </p:nvPr>
        </p:nvSpPr>
        <p:spPr>
          <a:xfrm>
            <a:off x="341060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7" name="Google Shape;247;p26"/>
          <p:cNvSpPr txBox="1"/>
          <p:nvPr>
            <p:ph idx="6" type="subTitle"/>
          </p:nvPr>
        </p:nvSpPr>
        <p:spPr>
          <a:xfrm>
            <a:off x="646047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6"/>
          <p:cNvSpPr txBox="1"/>
          <p:nvPr>
            <p:ph idx="7" type="subTitle"/>
          </p:nvPr>
        </p:nvSpPr>
        <p:spPr>
          <a:xfrm>
            <a:off x="645925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9" name="Google Shape;249;p26"/>
          <p:cNvSpPr txBox="1"/>
          <p:nvPr>
            <p:ph idx="8" type="subTitle"/>
          </p:nvPr>
        </p:nvSpPr>
        <p:spPr>
          <a:xfrm>
            <a:off x="363200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0" name="Google Shape;250;p26"/>
          <p:cNvSpPr txBox="1"/>
          <p:nvPr>
            <p:ph idx="9" type="subTitle"/>
          </p:nvPr>
        </p:nvSpPr>
        <p:spPr>
          <a:xfrm>
            <a:off x="361975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1" name="Google Shape;251;p26"/>
          <p:cNvSpPr txBox="1"/>
          <p:nvPr>
            <p:ph idx="13" type="subTitle"/>
          </p:nvPr>
        </p:nvSpPr>
        <p:spPr>
          <a:xfrm>
            <a:off x="341182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2" name="Google Shape;252;p26"/>
          <p:cNvSpPr txBox="1"/>
          <p:nvPr>
            <p:ph idx="14" type="subTitle"/>
          </p:nvPr>
        </p:nvSpPr>
        <p:spPr>
          <a:xfrm>
            <a:off x="341060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3" name="Google Shape;253;p26"/>
          <p:cNvSpPr txBox="1"/>
          <p:nvPr>
            <p:ph idx="15" type="subTitle"/>
          </p:nvPr>
        </p:nvSpPr>
        <p:spPr>
          <a:xfrm>
            <a:off x="646047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4" name="Google Shape;254;p26"/>
          <p:cNvSpPr txBox="1"/>
          <p:nvPr>
            <p:ph idx="16" type="subTitle"/>
          </p:nvPr>
        </p:nvSpPr>
        <p:spPr>
          <a:xfrm>
            <a:off x="645925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1">
  <p:cSld name="CUSTOM_4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"/>
          <p:cNvSpPr txBox="1"/>
          <p:nvPr>
            <p:ph idx="1" type="subTitle"/>
          </p:nvPr>
        </p:nvSpPr>
        <p:spPr>
          <a:xfrm>
            <a:off x="742900" y="2158550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57" name="Google Shape;257;p27"/>
          <p:cNvSpPr txBox="1"/>
          <p:nvPr>
            <p:ph idx="2" type="body"/>
          </p:nvPr>
        </p:nvSpPr>
        <p:spPr>
          <a:xfrm>
            <a:off x="742900" y="2381875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8" name="Google Shape;258;p27"/>
          <p:cNvSpPr/>
          <p:nvPr>
            <p:ph idx="3" type="pic"/>
          </p:nvPr>
        </p:nvSpPr>
        <p:spPr>
          <a:xfrm>
            <a:off x="5402575" y="0"/>
            <a:ext cx="3739800" cy="3129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27"/>
          <p:cNvSpPr txBox="1"/>
          <p:nvPr>
            <p:ph type="title"/>
          </p:nvPr>
        </p:nvSpPr>
        <p:spPr>
          <a:xfrm>
            <a:off x="361975" y="988550"/>
            <a:ext cx="4297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60" name="Google Shape;260;p27"/>
          <p:cNvSpPr txBox="1"/>
          <p:nvPr>
            <p:ph idx="4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2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2" name="Google Shape;262;p27"/>
          <p:cNvSpPr txBox="1"/>
          <p:nvPr>
            <p:ph idx="5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27"/>
          <p:cNvSpPr txBox="1"/>
          <p:nvPr>
            <p:ph idx="6" type="subTitle"/>
          </p:nvPr>
        </p:nvSpPr>
        <p:spPr>
          <a:xfrm>
            <a:off x="5785175" y="3335324"/>
            <a:ext cx="299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4" name="Google Shape;264;p27"/>
          <p:cNvSpPr txBox="1"/>
          <p:nvPr>
            <p:ph idx="7" type="subTitle"/>
          </p:nvPr>
        </p:nvSpPr>
        <p:spPr>
          <a:xfrm>
            <a:off x="742900" y="3910855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65" name="Google Shape;265;p27"/>
          <p:cNvSpPr txBox="1"/>
          <p:nvPr>
            <p:ph idx="8" type="body"/>
          </p:nvPr>
        </p:nvSpPr>
        <p:spPr>
          <a:xfrm>
            <a:off x="742900" y="4134180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66" name="Google Shape;266;p27"/>
          <p:cNvSpPr txBox="1"/>
          <p:nvPr>
            <p:ph idx="9" type="subTitle"/>
          </p:nvPr>
        </p:nvSpPr>
        <p:spPr>
          <a:xfrm>
            <a:off x="742900" y="3050778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67" name="Google Shape;267;p27"/>
          <p:cNvSpPr txBox="1"/>
          <p:nvPr>
            <p:ph idx="13" type="body"/>
          </p:nvPr>
        </p:nvSpPr>
        <p:spPr>
          <a:xfrm>
            <a:off x="742900" y="3274103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68" name="Google Shape;268;p27"/>
          <p:cNvSpPr txBox="1"/>
          <p:nvPr>
            <p:ph idx="14" type="body"/>
          </p:nvPr>
        </p:nvSpPr>
        <p:spPr>
          <a:xfrm>
            <a:off x="5785175" y="4134175"/>
            <a:ext cx="29916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2">
  <p:cSld name="CUSTOM_4_1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"/>
          <p:cNvSpPr/>
          <p:nvPr>
            <p:ph idx="2" type="pic"/>
          </p:nvPr>
        </p:nvSpPr>
        <p:spPr>
          <a:xfrm>
            <a:off x="75" y="0"/>
            <a:ext cx="2853300" cy="2436600"/>
          </a:xfrm>
          <a:prstGeom prst="rect">
            <a:avLst/>
          </a:prstGeom>
          <a:noFill/>
          <a:ln>
            <a:noFill/>
          </a:ln>
        </p:spPr>
      </p:sp>
      <p:sp>
        <p:nvSpPr>
          <p:cNvPr id="271" name="Google Shape;271;p2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2" name="Google Shape;272;p28"/>
          <p:cNvSpPr txBox="1"/>
          <p:nvPr>
            <p:ph idx="1" type="subTitle"/>
          </p:nvPr>
        </p:nvSpPr>
        <p:spPr>
          <a:xfrm>
            <a:off x="361975" y="2614325"/>
            <a:ext cx="206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Four members">
  <p:cSld name="CUSTOM_5"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/>
          <p:nvPr>
            <p:ph idx="1" type="body"/>
          </p:nvPr>
        </p:nvSpPr>
        <p:spPr>
          <a:xfrm>
            <a:off x="3528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5" name="Google Shape;275;p29"/>
          <p:cNvSpPr txBox="1"/>
          <p:nvPr>
            <p:ph idx="2" type="body"/>
          </p:nvPr>
        </p:nvSpPr>
        <p:spPr>
          <a:xfrm>
            <a:off x="7187875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6" name="Google Shape;276;p29"/>
          <p:cNvSpPr txBox="1"/>
          <p:nvPr>
            <p:ph idx="3" type="body"/>
          </p:nvPr>
        </p:nvSpPr>
        <p:spPr>
          <a:xfrm>
            <a:off x="49244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7" name="Google Shape;277;p29"/>
          <p:cNvSpPr txBox="1"/>
          <p:nvPr>
            <p:ph idx="4" type="body"/>
          </p:nvPr>
        </p:nvSpPr>
        <p:spPr>
          <a:xfrm>
            <a:off x="2643063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8" name="Google Shape;278;p29"/>
          <p:cNvSpPr/>
          <p:nvPr>
            <p:ph idx="5" type="pic"/>
          </p:nvPr>
        </p:nvSpPr>
        <p:spPr>
          <a:xfrm>
            <a:off x="2941550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79" name="Google Shape;279;p29"/>
          <p:cNvSpPr/>
          <p:nvPr>
            <p:ph idx="6" type="pic"/>
          </p:nvPr>
        </p:nvSpPr>
        <p:spPr>
          <a:xfrm>
            <a:off x="52270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29"/>
          <p:cNvSpPr/>
          <p:nvPr>
            <p:ph idx="7" type="pic"/>
          </p:nvPr>
        </p:nvSpPr>
        <p:spPr>
          <a:xfrm>
            <a:off x="74952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281" name="Google Shape;281;p29"/>
          <p:cNvCxnSpPr/>
          <p:nvPr/>
        </p:nvCxnSpPr>
        <p:spPr>
          <a:xfrm>
            <a:off x="22861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29"/>
          <p:cNvCxnSpPr/>
          <p:nvPr/>
        </p:nvCxnSpPr>
        <p:spPr>
          <a:xfrm>
            <a:off x="45805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29"/>
          <p:cNvCxnSpPr/>
          <p:nvPr/>
        </p:nvCxnSpPr>
        <p:spPr>
          <a:xfrm>
            <a:off x="685707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" name="Google Shape;284;p29"/>
          <p:cNvSpPr/>
          <p:nvPr>
            <p:ph idx="8" type="pic"/>
          </p:nvPr>
        </p:nvSpPr>
        <p:spPr>
          <a:xfrm>
            <a:off x="651288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29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6" name="Google Shape;286;p2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7" name="Google Shape;287;p29"/>
          <p:cNvSpPr txBox="1"/>
          <p:nvPr>
            <p:ph idx="9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8" name="Google Shape;288;p29"/>
          <p:cNvSpPr txBox="1"/>
          <p:nvPr>
            <p:ph idx="13" type="subTitle"/>
          </p:nvPr>
        </p:nvSpPr>
        <p:spPr>
          <a:xfrm>
            <a:off x="3532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89" name="Google Shape;289;p29"/>
          <p:cNvSpPr txBox="1"/>
          <p:nvPr>
            <p:ph idx="14" type="subTitle"/>
          </p:nvPr>
        </p:nvSpPr>
        <p:spPr>
          <a:xfrm>
            <a:off x="3532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0" name="Google Shape;290;p29"/>
          <p:cNvSpPr txBox="1"/>
          <p:nvPr>
            <p:ph idx="15" type="subTitle"/>
          </p:nvPr>
        </p:nvSpPr>
        <p:spPr>
          <a:xfrm>
            <a:off x="3532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1" name="Google Shape;291;p29"/>
          <p:cNvSpPr txBox="1"/>
          <p:nvPr>
            <p:ph idx="16" type="subTitle"/>
          </p:nvPr>
        </p:nvSpPr>
        <p:spPr>
          <a:xfrm>
            <a:off x="7188325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2" name="Google Shape;292;p29"/>
          <p:cNvSpPr txBox="1"/>
          <p:nvPr>
            <p:ph idx="17" type="subTitle"/>
          </p:nvPr>
        </p:nvSpPr>
        <p:spPr>
          <a:xfrm>
            <a:off x="7188325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29"/>
          <p:cNvSpPr txBox="1"/>
          <p:nvPr>
            <p:ph idx="18" type="subTitle"/>
          </p:nvPr>
        </p:nvSpPr>
        <p:spPr>
          <a:xfrm>
            <a:off x="7188325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4" name="Google Shape;294;p29"/>
          <p:cNvSpPr txBox="1"/>
          <p:nvPr>
            <p:ph idx="19" type="subTitle"/>
          </p:nvPr>
        </p:nvSpPr>
        <p:spPr>
          <a:xfrm>
            <a:off x="49248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5" name="Google Shape;295;p29"/>
          <p:cNvSpPr txBox="1"/>
          <p:nvPr>
            <p:ph idx="20" type="subTitle"/>
          </p:nvPr>
        </p:nvSpPr>
        <p:spPr>
          <a:xfrm>
            <a:off x="49248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6" name="Google Shape;296;p29"/>
          <p:cNvSpPr txBox="1"/>
          <p:nvPr>
            <p:ph idx="21" type="subTitle"/>
          </p:nvPr>
        </p:nvSpPr>
        <p:spPr>
          <a:xfrm>
            <a:off x="49248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7" name="Google Shape;297;p29"/>
          <p:cNvSpPr txBox="1"/>
          <p:nvPr>
            <p:ph idx="22" type="subTitle"/>
          </p:nvPr>
        </p:nvSpPr>
        <p:spPr>
          <a:xfrm>
            <a:off x="2643513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8" name="Google Shape;298;p29"/>
          <p:cNvSpPr txBox="1"/>
          <p:nvPr>
            <p:ph idx="23" type="subTitle"/>
          </p:nvPr>
        </p:nvSpPr>
        <p:spPr>
          <a:xfrm>
            <a:off x="2643513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9" name="Google Shape;299;p29"/>
          <p:cNvSpPr txBox="1"/>
          <p:nvPr>
            <p:ph idx="24" type="subTitle"/>
          </p:nvPr>
        </p:nvSpPr>
        <p:spPr>
          <a:xfrm>
            <a:off x="2643513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Eight members">
  <p:cSld name="CUSTOM_6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0"/>
          <p:cNvSpPr txBox="1"/>
          <p:nvPr>
            <p:ph idx="1" type="subTitle"/>
          </p:nvPr>
        </p:nvSpPr>
        <p:spPr>
          <a:xfrm>
            <a:off x="675060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2" name="Google Shape;302;p30"/>
          <p:cNvSpPr txBox="1"/>
          <p:nvPr>
            <p:ph idx="2" type="subTitle"/>
          </p:nvPr>
        </p:nvSpPr>
        <p:spPr>
          <a:xfrm>
            <a:off x="675060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3" name="Google Shape;303;p30"/>
          <p:cNvSpPr txBox="1"/>
          <p:nvPr>
            <p:ph idx="3" type="subTitle"/>
          </p:nvPr>
        </p:nvSpPr>
        <p:spPr>
          <a:xfrm>
            <a:off x="675060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4" name="Google Shape;304;p30"/>
          <p:cNvSpPr/>
          <p:nvPr>
            <p:ph idx="4" type="pic"/>
          </p:nvPr>
        </p:nvSpPr>
        <p:spPr>
          <a:xfrm>
            <a:off x="608070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05" name="Google Shape;305;p30"/>
          <p:cNvSpPr txBox="1"/>
          <p:nvPr>
            <p:ph idx="5" type="subTitle"/>
          </p:nvPr>
        </p:nvSpPr>
        <p:spPr>
          <a:xfrm>
            <a:off x="382455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6" name="Google Shape;306;p30"/>
          <p:cNvSpPr txBox="1"/>
          <p:nvPr>
            <p:ph idx="6" type="subTitle"/>
          </p:nvPr>
        </p:nvSpPr>
        <p:spPr>
          <a:xfrm>
            <a:off x="382455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7" name="Google Shape;307;p30"/>
          <p:cNvSpPr txBox="1"/>
          <p:nvPr>
            <p:ph idx="7" type="subTitle"/>
          </p:nvPr>
        </p:nvSpPr>
        <p:spPr>
          <a:xfrm>
            <a:off x="382455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8" name="Google Shape;308;p30"/>
          <p:cNvSpPr/>
          <p:nvPr>
            <p:ph idx="8" type="pic"/>
          </p:nvPr>
        </p:nvSpPr>
        <p:spPr>
          <a:xfrm>
            <a:off x="315465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30"/>
          <p:cNvSpPr txBox="1"/>
          <p:nvPr>
            <p:ph idx="9" type="subTitle"/>
          </p:nvPr>
        </p:nvSpPr>
        <p:spPr>
          <a:xfrm>
            <a:off x="675060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0" name="Google Shape;310;p30"/>
          <p:cNvSpPr txBox="1"/>
          <p:nvPr>
            <p:ph idx="13" type="subTitle"/>
          </p:nvPr>
        </p:nvSpPr>
        <p:spPr>
          <a:xfrm>
            <a:off x="675060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1" name="Google Shape;311;p30"/>
          <p:cNvSpPr txBox="1"/>
          <p:nvPr>
            <p:ph idx="14" type="subTitle"/>
          </p:nvPr>
        </p:nvSpPr>
        <p:spPr>
          <a:xfrm>
            <a:off x="675060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2" name="Google Shape;312;p30"/>
          <p:cNvSpPr/>
          <p:nvPr>
            <p:ph idx="15" type="pic"/>
          </p:nvPr>
        </p:nvSpPr>
        <p:spPr>
          <a:xfrm>
            <a:off x="608070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30"/>
          <p:cNvSpPr txBox="1"/>
          <p:nvPr>
            <p:ph idx="16" type="subTitle"/>
          </p:nvPr>
        </p:nvSpPr>
        <p:spPr>
          <a:xfrm>
            <a:off x="382455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4" name="Google Shape;314;p30"/>
          <p:cNvSpPr txBox="1"/>
          <p:nvPr>
            <p:ph idx="17" type="subTitle"/>
          </p:nvPr>
        </p:nvSpPr>
        <p:spPr>
          <a:xfrm>
            <a:off x="382455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5" name="Google Shape;315;p30"/>
          <p:cNvSpPr txBox="1"/>
          <p:nvPr>
            <p:ph idx="18" type="subTitle"/>
          </p:nvPr>
        </p:nvSpPr>
        <p:spPr>
          <a:xfrm>
            <a:off x="382455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6" name="Google Shape;316;p30"/>
          <p:cNvSpPr/>
          <p:nvPr>
            <p:ph idx="19" type="pic"/>
          </p:nvPr>
        </p:nvSpPr>
        <p:spPr>
          <a:xfrm>
            <a:off x="315465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17" name="Google Shape;317;p30"/>
          <p:cNvSpPr txBox="1"/>
          <p:nvPr>
            <p:ph idx="20" type="subTitle"/>
          </p:nvPr>
        </p:nvSpPr>
        <p:spPr>
          <a:xfrm>
            <a:off x="675060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8" name="Google Shape;318;p30"/>
          <p:cNvSpPr txBox="1"/>
          <p:nvPr>
            <p:ph idx="21" type="subTitle"/>
          </p:nvPr>
        </p:nvSpPr>
        <p:spPr>
          <a:xfrm>
            <a:off x="675060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9" name="Google Shape;319;p30"/>
          <p:cNvSpPr txBox="1"/>
          <p:nvPr>
            <p:ph idx="22" type="subTitle"/>
          </p:nvPr>
        </p:nvSpPr>
        <p:spPr>
          <a:xfrm>
            <a:off x="675060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0" name="Google Shape;320;p30"/>
          <p:cNvSpPr/>
          <p:nvPr>
            <p:ph idx="23" type="pic"/>
          </p:nvPr>
        </p:nvSpPr>
        <p:spPr>
          <a:xfrm>
            <a:off x="608070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1" name="Google Shape;321;p30"/>
          <p:cNvSpPr txBox="1"/>
          <p:nvPr>
            <p:ph idx="24" type="subTitle"/>
          </p:nvPr>
        </p:nvSpPr>
        <p:spPr>
          <a:xfrm>
            <a:off x="382455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2" name="Google Shape;322;p30"/>
          <p:cNvSpPr txBox="1"/>
          <p:nvPr>
            <p:ph idx="25" type="subTitle"/>
          </p:nvPr>
        </p:nvSpPr>
        <p:spPr>
          <a:xfrm>
            <a:off x="382455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3" name="Google Shape;323;p30"/>
          <p:cNvSpPr txBox="1"/>
          <p:nvPr>
            <p:ph idx="26" type="subTitle"/>
          </p:nvPr>
        </p:nvSpPr>
        <p:spPr>
          <a:xfrm>
            <a:off x="382455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4" name="Google Shape;324;p30"/>
          <p:cNvSpPr/>
          <p:nvPr>
            <p:ph idx="27" type="pic"/>
          </p:nvPr>
        </p:nvSpPr>
        <p:spPr>
          <a:xfrm>
            <a:off x="315465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30"/>
          <p:cNvSpPr txBox="1"/>
          <p:nvPr>
            <p:ph idx="28" type="subTitle"/>
          </p:nvPr>
        </p:nvSpPr>
        <p:spPr>
          <a:xfrm>
            <a:off x="675060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6" name="Google Shape;326;p30"/>
          <p:cNvSpPr txBox="1"/>
          <p:nvPr>
            <p:ph idx="29" type="subTitle"/>
          </p:nvPr>
        </p:nvSpPr>
        <p:spPr>
          <a:xfrm>
            <a:off x="675060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7" name="Google Shape;327;p30"/>
          <p:cNvSpPr txBox="1"/>
          <p:nvPr>
            <p:ph idx="30" type="subTitle"/>
          </p:nvPr>
        </p:nvSpPr>
        <p:spPr>
          <a:xfrm>
            <a:off x="675060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8" name="Google Shape;328;p30"/>
          <p:cNvSpPr/>
          <p:nvPr>
            <p:ph idx="31" type="pic"/>
          </p:nvPr>
        </p:nvSpPr>
        <p:spPr>
          <a:xfrm>
            <a:off x="608070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30"/>
          <p:cNvSpPr txBox="1"/>
          <p:nvPr>
            <p:ph idx="32" type="subTitle"/>
          </p:nvPr>
        </p:nvSpPr>
        <p:spPr>
          <a:xfrm>
            <a:off x="382455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30" name="Google Shape;330;p30"/>
          <p:cNvSpPr txBox="1"/>
          <p:nvPr>
            <p:ph idx="33" type="subTitle"/>
          </p:nvPr>
        </p:nvSpPr>
        <p:spPr>
          <a:xfrm>
            <a:off x="382455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31" name="Google Shape;331;p30"/>
          <p:cNvSpPr txBox="1"/>
          <p:nvPr>
            <p:ph idx="34" type="subTitle"/>
          </p:nvPr>
        </p:nvSpPr>
        <p:spPr>
          <a:xfrm>
            <a:off x="382455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2" name="Google Shape;332;p30"/>
          <p:cNvSpPr/>
          <p:nvPr>
            <p:ph idx="35" type="pic"/>
          </p:nvPr>
        </p:nvSpPr>
        <p:spPr>
          <a:xfrm>
            <a:off x="315465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33" name="Google Shape;333;p30"/>
          <p:cNvSpPr txBox="1"/>
          <p:nvPr>
            <p:ph type="title"/>
          </p:nvPr>
        </p:nvSpPr>
        <p:spPr>
          <a:xfrm>
            <a:off x="361975" y="962100"/>
            <a:ext cx="2450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34" name="Google Shape;334;p3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5" name="Google Shape;335;p30"/>
          <p:cNvSpPr txBox="1"/>
          <p:nvPr>
            <p:ph idx="3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- Alt 2">
  <p:cSld name="CUSTOM_7_1">
    <p:bg>
      <p:bgPr>
        <a:solidFill>
          <a:schemeClr val="accent2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1"/>
          <p:cNvSpPr/>
          <p:nvPr/>
        </p:nvSpPr>
        <p:spPr>
          <a:xfrm>
            <a:off x="0" y="0"/>
            <a:ext cx="4567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8" name="Google Shape;338;p31"/>
          <p:cNvSpPr txBox="1"/>
          <p:nvPr>
            <p:ph type="title"/>
          </p:nvPr>
        </p:nvSpPr>
        <p:spPr>
          <a:xfrm>
            <a:off x="4975925" y="989088"/>
            <a:ext cx="3783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39" name="Google Shape;339;p31"/>
          <p:cNvSpPr/>
          <p:nvPr>
            <p:ph idx="2" type="pic"/>
          </p:nvPr>
        </p:nvSpPr>
        <p:spPr>
          <a:xfrm flipH="1">
            <a:off x="953803" y="1066100"/>
            <a:ext cx="2664300" cy="30027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31"/>
          <p:cNvSpPr txBox="1"/>
          <p:nvPr>
            <p:ph idx="1" type="body"/>
          </p:nvPr>
        </p:nvSpPr>
        <p:spPr>
          <a:xfrm>
            <a:off x="4975925" y="4125662"/>
            <a:ext cx="3783600" cy="4617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1" name="Google Shape;341;p3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2" name="Google Shape;342;p31"/>
          <p:cNvSpPr txBox="1"/>
          <p:nvPr>
            <p:ph idx="3" type="body"/>
          </p:nvPr>
        </p:nvSpPr>
        <p:spPr>
          <a:xfrm>
            <a:off x="4975925" y="1943891"/>
            <a:ext cx="3783600" cy="1243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343" name="Google Shape;343;p31"/>
          <p:cNvSpPr txBox="1"/>
          <p:nvPr>
            <p:ph idx="4" type="subTitle"/>
          </p:nvPr>
        </p:nvSpPr>
        <p:spPr>
          <a:xfrm>
            <a:off x="4975925" y="732775"/>
            <a:ext cx="37836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4" name="Google Shape;344;p31"/>
          <p:cNvSpPr txBox="1"/>
          <p:nvPr>
            <p:ph idx="5" type="subTitle"/>
          </p:nvPr>
        </p:nvSpPr>
        <p:spPr>
          <a:xfrm>
            <a:off x="4975925" y="1647132"/>
            <a:ext cx="3783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45" name="Google Shape;345;p31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 background">
  <p:cSld name="CUSTOM_8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" name="Google Shape;347;p32"/>
          <p:cNvGrpSpPr/>
          <p:nvPr/>
        </p:nvGrpSpPr>
        <p:grpSpPr>
          <a:xfrm>
            <a:off x="49" y="514398"/>
            <a:ext cx="9144297" cy="4115162"/>
            <a:chOff x="-18500" y="514395"/>
            <a:chExt cx="9219900" cy="4115162"/>
          </a:xfrm>
        </p:grpSpPr>
        <p:cxnSp>
          <p:nvCxnSpPr>
            <p:cNvPr id="348" name="Google Shape;348;p32"/>
            <p:cNvCxnSpPr/>
            <p:nvPr/>
          </p:nvCxnSpPr>
          <p:spPr>
            <a:xfrm>
              <a:off x="-18500" y="1028790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9" name="Google Shape;349;p32"/>
            <p:cNvCxnSpPr/>
            <p:nvPr/>
          </p:nvCxnSpPr>
          <p:spPr>
            <a:xfrm>
              <a:off x="-18500" y="462955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0" name="Google Shape;350;p32"/>
            <p:cNvCxnSpPr/>
            <p:nvPr/>
          </p:nvCxnSpPr>
          <p:spPr>
            <a:xfrm>
              <a:off x="-18500" y="4115162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1" name="Google Shape;351;p32"/>
            <p:cNvCxnSpPr/>
            <p:nvPr/>
          </p:nvCxnSpPr>
          <p:spPr>
            <a:xfrm>
              <a:off x="-18500" y="360076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" name="Google Shape;352;p32"/>
            <p:cNvCxnSpPr/>
            <p:nvPr/>
          </p:nvCxnSpPr>
          <p:spPr>
            <a:xfrm>
              <a:off x="-18500" y="308637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3" name="Google Shape;353;p32"/>
            <p:cNvCxnSpPr/>
            <p:nvPr/>
          </p:nvCxnSpPr>
          <p:spPr>
            <a:xfrm>
              <a:off x="-18500" y="257197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" name="Google Shape;354;p32"/>
            <p:cNvCxnSpPr/>
            <p:nvPr/>
          </p:nvCxnSpPr>
          <p:spPr>
            <a:xfrm>
              <a:off x="-18500" y="205758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5" name="Google Shape;355;p32"/>
            <p:cNvCxnSpPr/>
            <p:nvPr/>
          </p:nvCxnSpPr>
          <p:spPr>
            <a:xfrm>
              <a:off x="-18500" y="154318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6" name="Google Shape;356;p32"/>
            <p:cNvCxnSpPr/>
            <p:nvPr/>
          </p:nvCxnSpPr>
          <p:spPr>
            <a:xfrm>
              <a:off x="-18500" y="514395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7" name="Google Shape;357;p3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8" name="Google Shape;358;p3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32"/>
          <p:cNvSpPr txBox="1"/>
          <p:nvPr>
            <p:ph idx="2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CUSTOM_8_1">
    <p:bg>
      <p:bgPr>
        <a:solidFill>
          <a:schemeClr val="accent2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3"/>
          <p:cNvSpPr/>
          <p:nvPr/>
        </p:nvSpPr>
        <p:spPr>
          <a:xfrm>
            <a:off x="50" y="-300"/>
            <a:ext cx="6708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2" name="Google Shape;362;p33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451475" y="3776250"/>
            <a:ext cx="4163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66" name="Google Shape;366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1" name="Google Shape;371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5" name="Google Shape;375;p3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0" name="Google Shape;380;p3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5" name="Google Shape;385;p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6" name="Google Shape;386;p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91" name="Google Shape;391;p4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4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4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4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8" name="Google Shape;398;p4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9" name="Google Shape;399;p4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0" name="Google Shape;400;p4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4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4" name="Google Shape;404;p4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7" name="Google Shape;407;p4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8" name="Google Shape;408;p4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9" name="Google Shape;409;p4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0" name="Google Shape;410;p4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3" name="Google Shape;413;p4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4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5" name="Google Shape;415;p4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6" name="Google Shape;416;p4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7" name="Google Shape;417;p4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8" name="Google Shape;418;p4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1" name="Google Shape;421;p4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4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3" name="Google Shape;423;p4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4" name="Google Shape;424;p4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5" name="Google Shape;425;p4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6" name="Google Shape;426;p4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7" name="Google Shape;427;p4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8" name="Google Shape;428;p4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5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4" name="Google Shape;434;p5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5" name="Google Shape;435;p5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6" name="Google Shape;436;p5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8" name="Google Shape;438;p5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9" name="Google Shape;439;p5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2" name="Google Shape;442;p5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3" name="Google Shape;443;p5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4" name="Google Shape;444;p5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5" name="Google Shape;445;p5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5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7" name="Google Shape;44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5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9" name="Google Shape;449;p5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0" name="Google Shape;450;p5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5" name="Google Shape;455;p5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6" name="Google Shape;456;p5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5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9" name="Google Shape;459;p5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1" name="Google Shape;461;p5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2" name="Google Shape;462;p5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3" name="Google Shape;463;p5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54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361850" y="2004025"/>
            <a:ext cx="56274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38150" y="524575"/>
            <a:ext cx="5433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ewsreader"/>
              <a:buNone/>
              <a:defRPr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700200" y="1614100"/>
            <a:ext cx="37566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29">
          <p15:clr>
            <a:srgbClr val="E46962"/>
          </p15:clr>
        </p15:guide>
        <p15:guide id="2" orient="horz" pos="233">
          <p15:clr>
            <a:srgbClr val="E46962"/>
          </p15:clr>
        </p15:guide>
        <p15:guide id="3" orient="horz" pos="3011">
          <p15:clr>
            <a:srgbClr val="E46962"/>
          </p15:clr>
        </p15:guide>
        <p15:guide id="4" pos="2850">
          <p15:clr>
            <a:srgbClr val="E46962"/>
          </p15:clr>
        </p15:guide>
        <p15:guide id="5" pos="2910">
          <p15:clr>
            <a:srgbClr val="E46962"/>
          </p15:clr>
        </p15:guide>
        <p15:guide id="6" pos="1468">
          <p15:clr>
            <a:srgbClr val="E46962"/>
          </p15:clr>
        </p15:guide>
        <p15:guide id="7" pos="1527">
          <p15:clr>
            <a:srgbClr val="E46962"/>
          </p15:clr>
        </p15:guide>
        <p15:guide id="8" pos="4226">
          <p15:clr>
            <a:srgbClr val="E46962"/>
          </p15:clr>
        </p15:guide>
        <p15:guide id="9" pos="4285">
          <p15:clr>
            <a:srgbClr val="E46962"/>
          </p15:clr>
        </p15:guide>
        <p15:guide id="10" pos="3773">
          <p15:clr>
            <a:srgbClr val="E46962"/>
          </p15:clr>
        </p15:guide>
        <p15:guide id="11" pos="3830">
          <p15:clr>
            <a:srgbClr val="E46962"/>
          </p15:clr>
        </p15:guide>
        <p15:guide id="12" pos="1930">
          <p15:clr>
            <a:srgbClr val="E46962"/>
          </p15:clr>
        </p15:guide>
        <p15:guide id="13" pos="1987">
          <p15:clr>
            <a:srgbClr val="E46962"/>
          </p15:clr>
        </p15:guide>
        <p15:guide id="14" orient="horz" pos="2867">
          <p15:clr>
            <a:srgbClr val="E46962"/>
          </p15:clr>
        </p15:guide>
        <p15:guide id="15" orient="horz" pos="1135">
          <p15:clr>
            <a:srgbClr val="E46962"/>
          </p15:clr>
        </p15:guide>
        <p15:guide id="16" orient="horz" pos="1194">
          <p15:clr>
            <a:srgbClr val="E46962"/>
          </p15:clr>
        </p15:guide>
        <p15:guide id="17" orient="horz" pos="2043">
          <p15:clr>
            <a:srgbClr val="E46962"/>
          </p15:clr>
        </p15:guide>
        <p15:guide id="18" orient="horz" pos="2103">
          <p15:clr>
            <a:srgbClr val="E46962"/>
          </p15:clr>
        </p15:guide>
        <p15:guide id="19" pos="228">
          <p15:clr>
            <a:srgbClr val="E46962"/>
          </p15:clr>
        </p15:guide>
        <p15:guide id="20" orient="horz" pos="67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modern glass structure. " id="468" name="Google Shape;468;p55"/>
          <p:cNvPicPr preferRelativeResize="0"/>
          <p:nvPr/>
        </p:nvPicPr>
        <p:blipFill rotWithShape="1">
          <a:blip r:embed="rId3">
            <a:alphaModFix/>
          </a:blip>
          <a:srcRect b="80" l="21737" r="19116" t="0"/>
          <a:stretch/>
        </p:blipFill>
        <p:spPr>
          <a:xfrm>
            <a:off x="4587725" y="-8750"/>
            <a:ext cx="4572001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55"/>
          <p:cNvSpPr txBox="1"/>
          <p:nvPr>
            <p:ph type="title"/>
          </p:nvPr>
        </p:nvSpPr>
        <p:spPr>
          <a:xfrm>
            <a:off x="399750" y="456650"/>
            <a:ext cx="38601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Ziplock Project Progress Report</a:t>
            </a:r>
            <a:endParaRPr/>
          </a:p>
        </p:txBody>
      </p:sp>
      <p:sp>
        <p:nvSpPr>
          <p:cNvPr id="470" name="Google Shape;470;p55"/>
          <p:cNvSpPr txBox="1"/>
          <p:nvPr/>
        </p:nvSpPr>
        <p:spPr>
          <a:xfrm>
            <a:off x="651000" y="2571750"/>
            <a:ext cx="3357600" cy="28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9F9F9"/>
                </a:solidFill>
                <a:latin typeface="DM Sans"/>
                <a:ea typeface="DM Sans"/>
                <a:cs typeface="DM Sans"/>
                <a:sym typeface="DM Sans"/>
              </a:rPr>
              <a:t>5/7/2026</a:t>
            </a:r>
            <a:endParaRPr sz="1200">
              <a:solidFill>
                <a:srgbClr val="F9F9F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9F9F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9F9F9"/>
                </a:solidFill>
                <a:latin typeface="DM Sans"/>
                <a:ea typeface="DM Sans"/>
                <a:cs typeface="DM Sans"/>
                <a:sym typeface="DM Sans"/>
              </a:rPr>
              <a:t>Charles Gao</a:t>
            </a:r>
            <a:endParaRPr sz="1200">
              <a:solidFill>
                <a:srgbClr val="F9F9F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9F9F9"/>
                </a:solidFill>
                <a:latin typeface="DM Sans"/>
                <a:ea typeface="DM Sans"/>
                <a:cs typeface="DM Sans"/>
                <a:sym typeface="DM Sans"/>
              </a:rPr>
              <a:t>Gary Zeng</a:t>
            </a:r>
            <a:endParaRPr sz="1200">
              <a:solidFill>
                <a:srgbClr val="F9F9F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9F9F9"/>
                </a:solidFill>
                <a:latin typeface="DM Sans"/>
                <a:ea typeface="DM Sans"/>
                <a:cs typeface="DM Sans"/>
                <a:sym typeface="DM Sans"/>
              </a:rPr>
              <a:t>Anuj Patel</a:t>
            </a:r>
            <a:endParaRPr sz="1200">
              <a:solidFill>
                <a:srgbClr val="F9F9F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9F9F9"/>
                </a:solidFill>
                <a:latin typeface="DM Sans"/>
                <a:ea typeface="DM Sans"/>
                <a:cs typeface="DM Sans"/>
                <a:sym typeface="DM Sans"/>
              </a:rPr>
              <a:t>Allen Lai</a:t>
            </a:r>
            <a:endParaRPr sz="1200">
              <a:solidFill>
                <a:srgbClr val="F9F9F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9F9F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6" name="Google Shape;476;p56"/>
          <p:cNvSpPr txBox="1"/>
          <p:nvPr/>
        </p:nvSpPr>
        <p:spPr>
          <a:xfrm>
            <a:off x="486800" y="403475"/>
            <a:ext cx="87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Objectives</a:t>
            </a:r>
            <a:r>
              <a:rPr lang="en"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3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77" name="Google Shape;477;p56"/>
          <p:cNvSpPr txBox="1"/>
          <p:nvPr/>
        </p:nvSpPr>
        <p:spPr>
          <a:xfrm>
            <a:off x="367050" y="1156500"/>
            <a:ext cx="8503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Build a California ZCTA-year dataset from housing, demographics, schools, crime, amenities, and minimum wage.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Predict next year's median sale price using information available from the current year.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Compare interpretable and nonlinear ML models to identify which local factors matter most.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3" name="Google Shape;483;p57"/>
          <p:cNvSpPr txBox="1"/>
          <p:nvPr/>
        </p:nvSpPr>
        <p:spPr>
          <a:xfrm>
            <a:off x="486800" y="403475"/>
            <a:ext cx="87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Motivation </a:t>
            </a:r>
            <a:endParaRPr sz="3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4" name="Google Shape;484;p57"/>
          <p:cNvSpPr txBox="1"/>
          <p:nvPr/>
        </p:nvSpPr>
        <p:spPr>
          <a:xfrm>
            <a:off x="367050" y="1156500"/>
            <a:ext cx="85038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California housing prices differ sharply across neighborhoods.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Earlier price signals can help explain affordability pressure before it fully appears in the market.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Public local data may reveal where prices are likely to rise next.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0" name="Google Shape;490;p58"/>
          <p:cNvSpPr txBox="1"/>
          <p:nvPr/>
        </p:nvSpPr>
        <p:spPr>
          <a:xfrm>
            <a:off x="486800" y="403475"/>
            <a:ext cx="87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ZCTAs vs Zip Code </a:t>
            </a:r>
            <a:endParaRPr sz="3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91" name="Google Shape;491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0200" y="644827"/>
            <a:ext cx="4392366" cy="4466099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58"/>
          <p:cNvSpPr txBox="1"/>
          <p:nvPr/>
        </p:nvSpPr>
        <p:spPr>
          <a:xfrm>
            <a:off x="660275" y="1170750"/>
            <a:ext cx="33558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</a:pPr>
            <a:r>
              <a:rPr lang="en"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Zip Code</a:t>
            </a:r>
            <a:endParaRPr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</a:pPr>
            <a:r>
              <a:rPr lang="en"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US Postal Service pointed-based routes used for mail delivery </a:t>
            </a:r>
            <a:endParaRPr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</a:pPr>
            <a:r>
              <a:rPr lang="en"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ZCTAs</a:t>
            </a:r>
            <a:endParaRPr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</a:pPr>
            <a:r>
              <a:rPr lang="en"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Area based polygons created by Census Bureau for their metrics </a:t>
            </a:r>
            <a:endParaRPr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</a:pPr>
            <a:r>
              <a:rPr lang="en"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ZCTAs sometimes are slightly different from Zip Code</a:t>
            </a:r>
            <a:endParaRPr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</a:pPr>
            <a:r>
              <a:rPr lang="en"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Convert ZCTAs to Zip Code using a US Housing and Urban Department (HUD) Crosswalk between Zip Code and ZCTA</a:t>
            </a:r>
            <a:endParaRPr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8" name="Google Shape;498;p59"/>
          <p:cNvSpPr txBox="1"/>
          <p:nvPr/>
        </p:nvSpPr>
        <p:spPr>
          <a:xfrm>
            <a:off x="2006550" y="1801500"/>
            <a:ext cx="5037000" cy="14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3F3F3"/>
                </a:solidFill>
                <a:latin typeface="DM Sans"/>
                <a:ea typeface="DM Sans"/>
                <a:cs typeface="DM Sans"/>
                <a:sym typeface="DM Sans"/>
              </a:rPr>
              <a:t>Data &amp; Management</a:t>
            </a:r>
            <a:endParaRPr sz="4000">
              <a:solidFill>
                <a:srgbClr val="F3F3F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6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4" name="Google Shape;504;p60"/>
          <p:cNvSpPr txBox="1"/>
          <p:nvPr/>
        </p:nvSpPr>
        <p:spPr>
          <a:xfrm>
            <a:off x="486800" y="403475"/>
            <a:ext cx="87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Data Sources</a:t>
            </a:r>
            <a:endParaRPr sz="3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05" name="Google Shape;505;p60"/>
          <p:cNvSpPr txBox="1"/>
          <p:nvPr/>
        </p:nvSpPr>
        <p:spPr>
          <a:xfrm>
            <a:off x="367050" y="1156500"/>
            <a:ext cx="85038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Previous </a:t>
            </a: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Data Sources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Redfin Housing Data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US Census Data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School Quality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Minimum</a:t>
            </a: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Wage Data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New Data Sources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Crime in </a:t>
            </a: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Zip Code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■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California Department of Justices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Amenities 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■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Parks, Beverage Shop, Fitness, </a:t>
            </a: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Restaurants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■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American Community Survey 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6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1" name="Google Shape;511;p61"/>
          <p:cNvSpPr txBox="1"/>
          <p:nvPr/>
        </p:nvSpPr>
        <p:spPr>
          <a:xfrm>
            <a:off x="486800" y="403475"/>
            <a:ext cx="87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Data Description</a:t>
            </a:r>
            <a:endParaRPr sz="3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512" name="Google Shape;512;p61"/>
          <p:cNvGraphicFramePr/>
          <p:nvPr/>
        </p:nvGraphicFramePr>
        <p:xfrm>
          <a:off x="229350" y="174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{15C5CF8F-0EC3-484D-8BF3-58F0138BA2CA}</a:tableStyleId>
              </a:tblPr>
              <a:tblGrid>
                <a:gridCol w="940225"/>
                <a:gridCol w="1160225"/>
                <a:gridCol w="995350"/>
                <a:gridCol w="1052475"/>
                <a:gridCol w="1201775"/>
                <a:gridCol w="1547850"/>
                <a:gridCol w="1547850"/>
              </a:tblGrid>
              <a:tr h="46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z</a:t>
                      </a:r>
                      <a:r>
                        <a:rPr lang="en"/>
                        <a:t>ip 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r>
                        <a:rPr lang="en"/>
                        <a:t>menities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est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emp_1_4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emp_5_9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emp_10_19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year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2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String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13" name="Google Shape;513;p61"/>
          <p:cNvSpPr txBox="1"/>
          <p:nvPr/>
        </p:nvSpPr>
        <p:spPr>
          <a:xfrm>
            <a:off x="229341" y="1212022"/>
            <a:ext cx="859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Amenities 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14" name="Google Shape;514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901500"/>
            <a:ext cx="8839199" cy="1506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0" name="Google Shape;520;p62"/>
          <p:cNvSpPr txBox="1"/>
          <p:nvPr/>
        </p:nvSpPr>
        <p:spPr>
          <a:xfrm>
            <a:off x="486800" y="403475"/>
            <a:ext cx="87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Amenities EDA</a:t>
            </a:r>
            <a:endParaRPr sz="3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1" name="Google Shape;521;p62"/>
          <p:cNvSpPr txBox="1"/>
          <p:nvPr/>
        </p:nvSpPr>
        <p:spPr>
          <a:xfrm>
            <a:off x="585500" y="1066088"/>
            <a:ext cx="850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Number of Amenities to Median Housing Price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22" name="Google Shape;522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500" y="1701025"/>
            <a:ext cx="3801926" cy="289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8406" y="1600562"/>
            <a:ext cx="3960983" cy="309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6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9" name="Google Shape;529;p63"/>
          <p:cNvSpPr txBox="1"/>
          <p:nvPr/>
        </p:nvSpPr>
        <p:spPr>
          <a:xfrm>
            <a:off x="486800" y="403475"/>
            <a:ext cx="87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Data Description</a:t>
            </a:r>
            <a:endParaRPr sz="3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530" name="Google Shape;530;p63"/>
          <p:cNvGraphicFramePr/>
          <p:nvPr/>
        </p:nvGraphicFramePr>
        <p:xfrm>
          <a:off x="361975" y="1609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{15C5CF8F-0EC3-484D-8BF3-58F0138BA2CA}</a:tableStyleId>
              </a:tblPr>
              <a:tblGrid>
                <a:gridCol w="953250"/>
                <a:gridCol w="599100"/>
                <a:gridCol w="1544900"/>
                <a:gridCol w="1288900"/>
                <a:gridCol w="1332575"/>
                <a:gridCol w="1764725"/>
              </a:tblGrid>
              <a:tr h="54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Zip Code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Year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Violent Crime Total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Property Crime Total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Total Crime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Population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31" name="Google Shape;531;p63"/>
          <p:cNvSpPr txBox="1"/>
          <p:nvPr/>
        </p:nvSpPr>
        <p:spPr>
          <a:xfrm>
            <a:off x="229341" y="1240450"/>
            <a:ext cx="859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Department of Justice California</a:t>
            </a:r>
            <a:endParaRPr sz="2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32" name="Google Shape;532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350" y="2866388"/>
            <a:ext cx="8839201" cy="1767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6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8" name="Google Shape;538;p64"/>
          <p:cNvSpPr txBox="1"/>
          <p:nvPr/>
        </p:nvSpPr>
        <p:spPr>
          <a:xfrm>
            <a:off x="442800" y="369300"/>
            <a:ext cx="87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Crime </a:t>
            </a:r>
            <a:endParaRPr sz="3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9" name="Google Shape;539;p64"/>
          <p:cNvSpPr txBox="1"/>
          <p:nvPr/>
        </p:nvSpPr>
        <p:spPr>
          <a:xfrm>
            <a:off x="367050" y="869150"/>
            <a:ext cx="850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40" name="Google Shape;540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075" y="895151"/>
            <a:ext cx="2981951" cy="3962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8976" y="869150"/>
            <a:ext cx="3149574" cy="401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7" name="Google Shape;547;p65"/>
          <p:cNvSpPr txBox="1"/>
          <p:nvPr/>
        </p:nvSpPr>
        <p:spPr>
          <a:xfrm>
            <a:off x="2006550" y="1801500"/>
            <a:ext cx="5037000" cy="14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3F3F3"/>
                </a:solidFill>
                <a:latin typeface="DM Sans"/>
                <a:ea typeface="DM Sans"/>
                <a:cs typeface="DM Sans"/>
                <a:sym typeface="DM Sans"/>
              </a:rPr>
              <a:t>Methodologies</a:t>
            </a:r>
            <a:endParaRPr sz="4000">
              <a:solidFill>
                <a:srgbClr val="F3F3F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3" name="Google Shape;553;p66"/>
          <p:cNvSpPr txBox="1"/>
          <p:nvPr/>
        </p:nvSpPr>
        <p:spPr>
          <a:xfrm>
            <a:off x="486800" y="403475"/>
            <a:ext cx="87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Modeling Goal and Setup </a:t>
            </a:r>
            <a:endParaRPr sz="3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4" name="Google Shape;554;p66"/>
          <p:cNvSpPr txBox="1"/>
          <p:nvPr/>
        </p:nvSpPr>
        <p:spPr>
          <a:xfrm>
            <a:off x="367050" y="1156500"/>
            <a:ext cx="85038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Target: next-year median sale price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Unit of observation: one California zcta5 in one year.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Training/CV data: 2012-2022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Time-blocked expanding-window cross-validation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Final test data: 2023, targeting 2024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Outcome: 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55" name="Google Shape;555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317550"/>
            <a:ext cx="8839204" cy="2106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6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1" name="Google Shape;561;p67"/>
          <p:cNvSpPr txBox="1"/>
          <p:nvPr/>
        </p:nvSpPr>
        <p:spPr>
          <a:xfrm>
            <a:off x="167875" y="451725"/>
            <a:ext cx="347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Linear Regression</a:t>
            </a:r>
            <a:endParaRPr sz="3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62" name="Google Shape;562;p67"/>
          <p:cNvSpPr txBox="1"/>
          <p:nvPr/>
        </p:nvSpPr>
        <p:spPr>
          <a:xfrm>
            <a:off x="310075" y="1293600"/>
            <a:ext cx="3186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Why? 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Simple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Benchmark 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63" name="Google Shape;563;p67"/>
          <p:cNvPicPr preferRelativeResize="0"/>
          <p:nvPr/>
        </p:nvPicPr>
        <p:blipFill rotWithShape="1">
          <a:blip r:embed="rId3">
            <a:alphaModFix/>
          </a:blip>
          <a:srcRect b="61520" l="-2880" r="2880" t="-61520"/>
          <a:stretch/>
        </p:blipFill>
        <p:spPr>
          <a:xfrm>
            <a:off x="-2930837" y="966625"/>
            <a:ext cx="8739379" cy="2112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7350" y="1066100"/>
            <a:ext cx="5098735" cy="4078976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67"/>
          <p:cNvSpPr txBox="1"/>
          <p:nvPr/>
        </p:nvSpPr>
        <p:spPr>
          <a:xfrm>
            <a:off x="4525050" y="451725"/>
            <a:ext cx="400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CC0000"/>
                </a:solidFill>
                <a:latin typeface="DM Sans"/>
                <a:ea typeface="DM Sans"/>
                <a:cs typeface="DM Sans"/>
                <a:sym typeface="DM Sans"/>
              </a:rPr>
              <a:t>What is parent_metro_region?</a:t>
            </a:r>
            <a:endParaRPr sz="1800">
              <a:solidFill>
                <a:srgbClr val="CC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66" name="Google Shape;566;p67"/>
          <p:cNvSpPr txBox="1"/>
          <p:nvPr/>
        </p:nvSpPr>
        <p:spPr>
          <a:xfrm>
            <a:off x="361975" y="3123050"/>
            <a:ext cx="3186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Ridge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L2 regularization to reduce coefficient instability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6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2" name="Google Shape;572;p68"/>
          <p:cNvSpPr txBox="1"/>
          <p:nvPr/>
        </p:nvSpPr>
        <p:spPr>
          <a:xfrm>
            <a:off x="221400" y="83725"/>
            <a:ext cx="87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Linear Regression</a:t>
            </a:r>
            <a:r>
              <a:rPr lang="en"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continued</a:t>
            </a:r>
            <a:endParaRPr sz="3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73" name="Google Shape;573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600" y="829625"/>
            <a:ext cx="8578673" cy="4105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6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9" name="Google Shape;579;p69"/>
          <p:cNvSpPr txBox="1"/>
          <p:nvPr/>
        </p:nvSpPr>
        <p:spPr>
          <a:xfrm>
            <a:off x="221400" y="83725"/>
            <a:ext cx="87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Random Forest</a:t>
            </a:r>
            <a:endParaRPr sz="3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0" name="Google Shape;580;p69"/>
          <p:cNvSpPr txBox="1"/>
          <p:nvPr/>
        </p:nvSpPr>
        <p:spPr>
          <a:xfrm>
            <a:off x="221400" y="730225"/>
            <a:ext cx="3629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Why? 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Feature importance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Nonlinear relationships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81" name="Google Shape;581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3550" y="1029550"/>
            <a:ext cx="4755125" cy="380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25" y="2078300"/>
            <a:ext cx="4062678" cy="264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7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8" name="Google Shape;588;p70"/>
          <p:cNvSpPr txBox="1"/>
          <p:nvPr/>
        </p:nvSpPr>
        <p:spPr>
          <a:xfrm>
            <a:off x="221400" y="83725"/>
            <a:ext cx="87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Random Forest continued</a:t>
            </a:r>
            <a:endParaRPr sz="3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89" name="Google Shape;589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525" y="917050"/>
            <a:ext cx="8257050" cy="394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7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5" name="Google Shape;595;p71"/>
          <p:cNvSpPr txBox="1"/>
          <p:nvPr/>
        </p:nvSpPr>
        <p:spPr>
          <a:xfrm>
            <a:off x="221400" y="83725"/>
            <a:ext cx="87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XGBoost</a:t>
            </a:r>
            <a:endParaRPr sz="3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6" name="Google Shape;596;p71"/>
          <p:cNvSpPr txBox="1"/>
          <p:nvPr/>
        </p:nvSpPr>
        <p:spPr>
          <a:xfrm>
            <a:off x="221400" y="730225"/>
            <a:ext cx="3885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Why? 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Feature interactions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Nonlinear relationships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egularization, shrinkage, and subsampling..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97" name="Google Shape;597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3200" y="825625"/>
            <a:ext cx="5129500" cy="4103600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71"/>
          <p:cNvSpPr txBox="1"/>
          <p:nvPr/>
        </p:nvSpPr>
        <p:spPr>
          <a:xfrm>
            <a:off x="4525050" y="268525"/>
            <a:ext cx="400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CC0000"/>
                </a:solidFill>
                <a:latin typeface="DM Sans"/>
                <a:ea typeface="DM Sans"/>
                <a:cs typeface="DM Sans"/>
                <a:sym typeface="DM Sans"/>
              </a:rPr>
              <a:t>Median_sale_price dominates !!!</a:t>
            </a:r>
            <a:endParaRPr sz="1800">
              <a:solidFill>
                <a:srgbClr val="CC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9" name="Google Shape;599;p71"/>
          <p:cNvSpPr txBox="1"/>
          <p:nvPr/>
        </p:nvSpPr>
        <p:spPr>
          <a:xfrm>
            <a:off x="221400" y="2577325"/>
            <a:ext cx="3885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Parameters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700 estimators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0.035 learning rate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4 max depth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….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7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5" name="Google Shape;605;p72"/>
          <p:cNvSpPr txBox="1"/>
          <p:nvPr/>
        </p:nvSpPr>
        <p:spPr>
          <a:xfrm>
            <a:off x="221400" y="83725"/>
            <a:ext cx="87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XGBoost</a:t>
            </a:r>
            <a:r>
              <a:rPr lang="en"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continued</a:t>
            </a:r>
            <a:endParaRPr sz="3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06" name="Google Shape;606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82625"/>
            <a:ext cx="8594647" cy="4108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7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2" name="Google Shape;612;p73"/>
          <p:cNvSpPr txBox="1"/>
          <p:nvPr/>
        </p:nvSpPr>
        <p:spPr>
          <a:xfrm>
            <a:off x="486800" y="403475"/>
            <a:ext cx="87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Results</a:t>
            </a:r>
            <a:endParaRPr sz="3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613" name="Google Shape;613;p73"/>
          <p:cNvGraphicFramePr/>
          <p:nvPr/>
        </p:nvGraphicFramePr>
        <p:xfrm>
          <a:off x="700125" y="1133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{15C5CF8F-0EC3-484D-8BF3-58F0138BA2CA}</a:tableStyleId>
              </a:tblPr>
              <a:tblGrid>
                <a:gridCol w="2031600"/>
                <a:gridCol w="2031600"/>
                <a:gridCol w="2039475"/>
                <a:gridCol w="2023725"/>
              </a:tblGrid>
              <a:tr h="551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50">
                          <a:solidFill>
                            <a:srgbClr val="1A1C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Model</a:t>
                      </a:r>
                      <a:endParaRPr sz="1950">
                        <a:solidFill>
                          <a:srgbClr val="1A1C1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8100" marB="38100" marR="38100" marL="38100">
                    <a:lnL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50">
                          <a:solidFill>
                            <a:srgbClr val="1A1C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MAE</a:t>
                      </a:r>
                      <a:endParaRPr sz="1950">
                        <a:solidFill>
                          <a:srgbClr val="1A1C1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8100" marB="38100" marR="38100" marL="38100">
                    <a:lnL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50">
                          <a:solidFill>
                            <a:srgbClr val="1A1C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RMSE</a:t>
                      </a:r>
                      <a:endParaRPr sz="1950">
                        <a:solidFill>
                          <a:srgbClr val="1A1C1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8100" marB="38100" marR="38100" marL="38100">
                    <a:lnL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50">
                          <a:solidFill>
                            <a:srgbClr val="1A1C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R²</a:t>
                      </a:r>
                      <a:endParaRPr sz="1950">
                        <a:solidFill>
                          <a:srgbClr val="1A1C1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8100" marB="38100" marR="38100" marL="38100">
                    <a:lnL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1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50">
                          <a:solidFill>
                            <a:srgbClr val="1A1C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Linear/Ridge</a:t>
                      </a:r>
                      <a:endParaRPr sz="1950">
                        <a:solidFill>
                          <a:srgbClr val="1A1C1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8100" marB="38100" marR="38100" marL="38100">
                    <a:lnL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rgbClr val="1A1C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$203.9 K</a:t>
                      </a:r>
                      <a:endParaRPr sz="1900">
                        <a:solidFill>
                          <a:srgbClr val="1A1C1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8100" marB="38100" marR="38100" marL="38100">
                    <a:lnL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rgbClr val="1A1C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$1260 K</a:t>
                      </a:r>
                      <a:endParaRPr sz="1900">
                        <a:solidFill>
                          <a:srgbClr val="1A1C1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8100" marB="38100" marR="38100" marL="38100">
                    <a:lnL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rgbClr val="1A1C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-2.32</a:t>
                      </a:r>
                      <a:endParaRPr sz="1900">
                        <a:solidFill>
                          <a:srgbClr val="1A1C1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8100" marB="38100" marR="38100" marL="38100">
                    <a:lnL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1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50">
                          <a:solidFill>
                            <a:srgbClr val="1A1C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Random Forest</a:t>
                      </a:r>
                      <a:endParaRPr sz="1950">
                        <a:solidFill>
                          <a:srgbClr val="1A1C1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8100" marB="38100" marR="38100" marL="38100">
                    <a:lnL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rgbClr val="1A1C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$103.2 K</a:t>
                      </a:r>
                      <a:endParaRPr sz="1900">
                        <a:solidFill>
                          <a:srgbClr val="1A1C1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8100" marB="38100" marR="38100" marL="38100">
                    <a:lnL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rgbClr val="1A1C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$246.0 K</a:t>
                      </a:r>
                      <a:endParaRPr sz="1900">
                        <a:solidFill>
                          <a:srgbClr val="1A1C1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8100" marB="38100" marR="38100" marL="38100">
                    <a:lnL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rgbClr val="1A1C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0.874</a:t>
                      </a:r>
                      <a:endParaRPr sz="1900">
                        <a:solidFill>
                          <a:srgbClr val="1A1C1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8100" marB="38100" marR="38100" marL="38100">
                    <a:lnL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1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50">
                          <a:solidFill>
                            <a:srgbClr val="1A1C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XGBoost</a:t>
                      </a:r>
                      <a:endParaRPr sz="1950">
                        <a:solidFill>
                          <a:srgbClr val="1A1C1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8100" marB="38100" marR="38100" marL="38100">
                    <a:lnL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rgbClr val="1A1C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$68.8 K</a:t>
                      </a:r>
                      <a:endParaRPr sz="1900">
                        <a:solidFill>
                          <a:srgbClr val="1A1C1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8100" marB="38100" marR="38100" marL="38100">
                    <a:lnL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rgbClr val="1A1C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$135.1 K</a:t>
                      </a:r>
                      <a:endParaRPr sz="1900">
                        <a:solidFill>
                          <a:srgbClr val="1A1C1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8100" marB="38100" marR="38100" marL="38100">
                    <a:lnL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rgbClr val="1A1C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0.962</a:t>
                      </a:r>
                      <a:endParaRPr sz="1900">
                        <a:solidFill>
                          <a:srgbClr val="1A1C1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38100" marB="38100" marR="38100" marL="38100">
                    <a:lnL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1A1C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7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9" name="Google Shape;619;p74"/>
          <p:cNvSpPr txBox="1"/>
          <p:nvPr/>
        </p:nvSpPr>
        <p:spPr>
          <a:xfrm>
            <a:off x="2006550" y="1801500"/>
            <a:ext cx="5037000" cy="14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3F3F3"/>
                </a:solidFill>
                <a:latin typeface="DM Sans"/>
                <a:ea typeface="DM Sans"/>
                <a:cs typeface="DM Sans"/>
                <a:sym typeface="DM Sans"/>
              </a:rPr>
              <a:t>Milestones</a:t>
            </a:r>
            <a:endParaRPr sz="4000">
              <a:solidFill>
                <a:srgbClr val="F3F3F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7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5" name="Google Shape;625;p75"/>
          <p:cNvSpPr txBox="1"/>
          <p:nvPr/>
        </p:nvSpPr>
        <p:spPr>
          <a:xfrm>
            <a:off x="486800" y="403475"/>
            <a:ext cx="87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Roadblocks</a:t>
            </a:r>
            <a:endParaRPr sz="3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26" name="Google Shape;626;p75"/>
          <p:cNvSpPr txBox="1"/>
          <p:nvPr/>
        </p:nvSpPr>
        <p:spPr>
          <a:xfrm>
            <a:off x="367050" y="1156500"/>
            <a:ext cx="85038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Roadblocks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Data Sources are messy and don’t cleanly fit into each other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School Data is missing </a:t>
            </a: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 years of data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■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2014 due to company’s transition to new assessment regime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■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2020 due to covid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7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2" name="Google Shape;632;p76"/>
          <p:cNvSpPr txBox="1"/>
          <p:nvPr/>
        </p:nvSpPr>
        <p:spPr>
          <a:xfrm>
            <a:off x="486800" y="-46925"/>
            <a:ext cx="87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Milestone</a:t>
            </a:r>
            <a:endParaRPr sz="3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33" name="Google Shape;633;p76"/>
          <p:cNvSpPr txBox="1"/>
          <p:nvPr/>
        </p:nvSpPr>
        <p:spPr>
          <a:xfrm>
            <a:off x="367050" y="1156500"/>
            <a:ext cx="85038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Week 6-7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Finish training and tuning forecasting models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Week 7-9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Start and Finish Expo Poster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Finish final touches on figures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7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9" name="Google Shape;639;p77"/>
          <p:cNvSpPr txBox="1"/>
          <p:nvPr/>
        </p:nvSpPr>
        <p:spPr>
          <a:xfrm>
            <a:off x="2006550" y="1801500"/>
            <a:ext cx="5037000" cy="14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3F3F3"/>
                </a:solidFill>
                <a:latin typeface="DM Sans"/>
                <a:ea typeface="DM Sans"/>
                <a:cs typeface="DM Sans"/>
                <a:sym typeface="DM Sans"/>
              </a:rPr>
              <a:t>Thank You! </a:t>
            </a:r>
            <a:endParaRPr sz="4000">
              <a:solidFill>
                <a:srgbClr val="F3F3F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usiness Plan Presentation">
  <a:themeElements>
    <a:clrScheme name="Simple Light">
      <a:dk1>
        <a:srgbClr val="F9F9F9"/>
      </a:dk1>
      <a:lt1>
        <a:srgbClr val="183C40"/>
      </a:lt1>
      <a:dk2>
        <a:srgbClr val="20494D"/>
      </a:dk2>
      <a:lt2>
        <a:srgbClr val="799DA7"/>
      </a:lt2>
      <a:accent1>
        <a:srgbClr val="B0D5CD"/>
      </a:accent1>
      <a:accent2>
        <a:srgbClr val="A6DAEA"/>
      </a:accent2>
      <a:accent3>
        <a:srgbClr val="B78D43"/>
      </a:accent3>
      <a:accent4>
        <a:srgbClr val="9AA864"/>
      </a:accent4>
      <a:accent5>
        <a:srgbClr val="426345"/>
      </a:accent5>
      <a:accent6>
        <a:srgbClr val="DCDCDC"/>
      </a:accent6>
      <a:hlink>
        <a:srgbClr val="B0D5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